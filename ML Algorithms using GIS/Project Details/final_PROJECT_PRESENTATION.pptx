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4"/>
  </p:notesMasterIdLst>
  <p:sldIdLst>
    <p:sldId id="256" r:id="rId2"/>
    <p:sldId id="257" r:id="rId3"/>
    <p:sldId id="268" r:id="rId4"/>
    <p:sldId id="265" r:id="rId5"/>
    <p:sldId id="266" r:id="rId6"/>
    <p:sldId id="267" r:id="rId7"/>
    <p:sldId id="260" r:id="rId8"/>
    <p:sldId id="269" r:id="rId9"/>
    <p:sldId id="277" r:id="rId10"/>
    <p:sldId id="270" r:id="rId11"/>
    <p:sldId id="274" r:id="rId12"/>
    <p:sldId id="271" r:id="rId13"/>
    <p:sldId id="276" r:id="rId14"/>
    <p:sldId id="272" r:id="rId15"/>
    <p:sldId id="275" r:id="rId16"/>
    <p:sldId id="280" r:id="rId17"/>
    <p:sldId id="281" r:id="rId18"/>
    <p:sldId id="282" r:id="rId19"/>
    <p:sldId id="283" r:id="rId20"/>
    <p:sldId id="284" r:id="rId21"/>
    <p:sldId id="279" r:id="rId22"/>
    <p:sldId id="278"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howGuides="1">
      <p:cViewPr varScale="1">
        <p:scale>
          <a:sx n="78" d="100"/>
          <a:sy n="78" d="100"/>
        </p:scale>
        <p:origin x="715" y="6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54313E-5D9D-4320-9D69-EFBF0025BFB9}"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77162210-137A-4C37-BCA6-DDB72BB0CC04}">
      <dgm:prSet/>
      <dgm:spPr/>
      <dgm:t>
        <a:bodyPr/>
        <a:lstStyle/>
        <a:p>
          <a:r>
            <a:rPr lang="en-IN"/>
            <a:t>Random Forest.</a:t>
          </a:r>
          <a:endParaRPr lang="en-US"/>
        </a:p>
      </dgm:t>
    </dgm:pt>
    <dgm:pt modelId="{47661C98-87A5-4FF3-974F-D8EA151AF756}" type="parTrans" cxnId="{E9D73AB8-3C35-4BA2-A583-88E3AB9B74B0}">
      <dgm:prSet/>
      <dgm:spPr/>
      <dgm:t>
        <a:bodyPr/>
        <a:lstStyle/>
        <a:p>
          <a:endParaRPr lang="en-US"/>
        </a:p>
      </dgm:t>
    </dgm:pt>
    <dgm:pt modelId="{F641EAFF-992C-447E-847F-D2075FBB9071}" type="sibTrans" cxnId="{E9D73AB8-3C35-4BA2-A583-88E3AB9B74B0}">
      <dgm:prSet/>
      <dgm:spPr/>
      <dgm:t>
        <a:bodyPr/>
        <a:lstStyle/>
        <a:p>
          <a:endParaRPr lang="en-US"/>
        </a:p>
      </dgm:t>
    </dgm:pt>
    <dgm:pt modelId="{2EC4CFA0-C6A1-4148-B6EA-2345EEA03C66}">
      <dgm:prSet/>
      <dgm:spPr/>
      <dgm:t>
        <a:bodyPr/>
        <a:lstStyle/>
        <a:p>
          <a:r>
            <a:rPr lang="en-IN"/>
            <a:t>ANN Neural Network.</a:t>
          </a:r>
          <a:endParaRPr lang="en-US"/>
        </a:p>
      </dgm:t>
    </dgm:pt>
    <dgm:pt modelId="{7A7B6B12-B503-4E8B-A3FC-FDD4C15AEBA2}" type="parTrans" cxnId="{CF7BF8F2-DB50-43B7-8587-E92C0BDE27A5}">
      <dgm:prSet/>
      <dgm:spPr/>
      <dgm:t>
        <a:bodyPr/>
        <a:lstStyle/>
        <a:p>
          <a:endParaRPr lang="en-US"/>
        </a:p>
      </dgm:t>
    </dgm:pt>
    <dgm:pt modelId="{E3D3FEC2-CFDC-4E0C-98BF-A62CBCE445CB}" type="sibTrans" cxnId="{CF7BF8F2-DB50-43B7-8587-E92C0BDE27A5}">
      <dgm:prSet/>
      <dgm:spPr/>
      <dgm:t>
        <a:bodyPr/>
        <a:lstStyle/>
        <a:p>
          <a:endParaRPr lang="en-US"/>
        </a:p>
      </dgm:t>
    </dgm:pt>
    <dgm:pt modelId="{2958EEA5-6633-48A1-ABDB-EB37C8CB8C0C}">
      <dgm:prSet/>
      <dgm:spPr/>
      <dgm:t>
        <a:bodyPr/>
        <a:lstStyle/>
        <a:p>
          <a:r>
            <a:rPr lang="en-IN"/>
            <a:t>Logistical Regression.</a:t>
          </a:r>
          <a:endParaRPr lang="en-US"/>
        </a:p>
      </dgm:t>
    </dgm:pt>
    <dgm:pt modelId="{D0A53741-0318-4C81-9209-2B421330FB2A}" type="parTrans" cxnId="{13F2F2D4-7BBC-413D-BAFB-4E87B33F53A7}">
      <dgm:prSet/>
      <dgm:spPr/>
      <dgm:t>
        <a:bodyPr/>
        <a:lstStyle/>
        <a:p>
          <a:endParaRPr lang="en-US"/>
        </a:p>
      </dgm:t>
    </dgm:pt>
    <dgm:pt modelId="{E3B9DB9B-DF1E-4497-B78E-B10D08193E6E}" type="sibTrans" cxnId="{13F2F2D4-7BBC-413D-BAFB-4E87B33F53A7}">
      <dgm:prSet/>
      <dgm:spPr/>
      <dgm:t>
        <a:bodyPr/>
        <a:lstStyle/>
        <a:p>
          <a:endParaRPr lang="en-US"/>
        </a:p>
      </dgm:t>
    </dgm:pt>
    <dgm:pt modelId="{CAE4F0B6-AF76-4037-8C9A-41D36498B4C3}">
      <dgm:prSet/>
      <dgm:spPr/>
      <dgm:t>
        <a:bodyPr/>
        <a:lstStyle/>
        <a:p>
          <a:r>
            <a:rPr lang="en-IN"/>
            <a:t>K-Means</a:t>
          </a:r>
          <a:endParaRPr lang="en-US"/>
        </a:p>
      </dgm:t>
    </dgm:pt>
    <dgm:pt modelId="{157C1118-462E-4639-AB6D-5B8B9B4A1285}" type="parTrans" cxnId="{CBB63C93-6F06-4A76-A7D0-B3103724ED41}">
      <dgm:prSet/>
      <dgm:spPr/>
      <dgm:t>
        <a:bodyPr/>
        <a:lstStyle/>
        <a:p>
          <a:endParaRPr lang="en-US"/>
        </a:p>
      </dgm:t>
    </dgm:pt>
    <dgm:pt modelId="{7557DB99-15F3-4982-9953-21566319F247}" type="sibTrans" cxnId="{CBB63C93-6F06-4A76-A7D0-B3103724ED41}">
      <dgm:prSet/>
      <dgm:spPr/>
      <dgm:t>
        <a:bodyPr/>
        <a:lstStyle/>
        <a:p>
          <a:endParaRPr lang="en-US"/>
        </a:p>
      </dgm:t>
    </dgm:pt>
    <dgm:pt modelId="{C98D76C0-51D0-452A-B050-1E565CD63E51}" type="pres">
      <dgm:prSet presAssocID="{CA54313E-5D9D-4320-9D69-EFBF0025BFB9}" presName="hierChild1" presStyleCnt="0">
        <dgm:presLayoutVars>
          <dgm:chPref val="1"/>
          <dgm:dir/>
          <dgm:animOne val="branch"/>
          <dgm:animLvl val="lvl"/>
          <dgm:resizeHandles/>
        </dgm:presLayoutVars>
      </dgm:prSet>
      <dgm:spPr/>
    </dgm:pt>
    <dgm:pt modelId="{E07520BE-362E-40EF-AD90-64D9E82E7460}" type="pres">
      <dgm:prSet presAssocID="{77162210-137A-4C37-BCA6-DDB72BB0CC04}" presName="hierRoot1" presStyleCnt="0"/>
      <dgm:spPr/>
    </dgm:pt>
    <dgm:pt modelId="{2351ACF1-B4A3-4DDB-892B-3CCE8B3180B1}" type="pres">
      <dgm:prSet presAssocID="{77162210-137A-4C37-BCA6-DDB72BB0CC04}" presName="composite" presStyleCnt="0"/>
      <dgm:spPr/>
    </dgm:pt>
    <dgm:pt modelId="{45461173-B9DE-4524-9161-0B21A0C9939A}" type="pres">
      <dgm:prSet presAssocID="{77162210-137A-4C37-BCA6-DDB72BB0CC04}" presName="background" presStyleLbl="node0" presStyleIdx="0" presStyleCnt="4"/>
      <dgm:spPr/>
    </dgm:pt>
    <dgm:pt modelId="{EF43AD8E-42E3-4FFF-A2DF-88ABCDD80DE5}" type="pres">
      <dgm:prSet presAssocID="{77162210-137A-4C37-BCA6-DDB72BB0CC04}" presName="text" presStyleLbl="fgAcc0" presStyleIdx="0" presStyleCnt="4">
        <dgm:presLayoutVars>
          <dgm:chPref val="3"/>
        </dgm:presLayoutVars>
      </dgm:prSet>
      <dgm:spPr/>
    </dgm:pt>
    <dgm:pt modelId="{7F164DAF-30CD-417C-81FE-731524413EB1}" type="pres">
      <dgm:prSet presAssocID="{77162210-137A-4C37-BCA6-DDB72BB0CC04}" presName="hierChild2" presStyleCnt="0"/>
      <dgm:spPr/>
    </dgm:pt>
    <dgm:pt modelId="{51FDA57E-0ECB-4D1E-8452-624A7BB11B14}" type="pres">
      <dgm:prSet presAssocID="{2EC4CFA0-C6A1-4148-B6EA-2345EEA03C66}" presName="hierRoot1" presStyleCnt="0"/>
      <dgm:spPr/>
    </dgm:pt>
    <dgm:pt modelId="{DF8CF4A5-D448-468B-A5FB-652771A9B92C}" type="pres">
      <dgm:prSet presAssocID="{2EC4CFA0-C6A1-4148-B6EA-2345EEA03C66}" presName="composite" presStyleCnt="0"/>
      <dgm:spPr/>
    </dgm:pt>
    <dgm:pt modelId="{F8167178-6378-4EF0-B6CE-292280F166DC}" type="pres">
      <dgm:prSet presAssocID="{2EC4CFA0-C6A1-4148-B6EA-2345EEA03C66}" presName="background" presStyleLbl="node0" presStyleIdx="1" presStyleCnt="4"/>
      <dgm:spPr/>
    </dgm:pt>
    <dgm:pt modelId="{F74DA6BF-0C97-4D67-B801-F76A8BD6DB8F}" type="pres">
      <dgm:prSet presAssocID="{2EC4CFA0-C6A1-4148-B6EA-2345EEA03C66}" presName="text" presStyleLbl="fgAcc0" presStyleIdx="1" presStyleCnt="4">
        <dgm:presLayoutVars>
          <dgm:chPref val="3"/>
        </dgm:presLayoutVars>
      </dgm:prSet>
      <dgm:spPr/>
    </dgm:pt>
    <dgm:pt modelId="{C4A7D731-E5C2-42F8-B57E-CB2C5A599394}" type="pres">
      <dgm:prSet presAssocID="{2EC4CFA0-C6A1-4148-B6EA-2345EEA03C66}" presName="hierChild2" presStyleCnt="0"/>
      <dgm:spPr/>
    </dgm:pt>
    <dgm:pt modelId="{2D6B19D4-D88E-407F-BE49-5503BA7A5E83}" type="pres">
      <dgm:prSet presAssocID="{2958EEA5-6633-48A1-ABDB-EB37C8CB8C0C}" presName="hierRoot1" presStyleCnt="0"/>
      <dgm:spPr/>
    </dgm:pt>
    <dgm:pt modelId="{1474DE15-5839-4D54-B2C1-3D40825D64A8}" type="pres">
      <dgm:prSet presAssocID="{2958EEA5-6633-48A1-ABDB-EB37C8CB8C0C}" presName="composite" presStyleCnt="0"/>
      <dgm:spPr/>
    </dgm:pt>
    <dgm:pt modelId="{00A294CB-6A98-4E03-9C97-64710D795B94}" type="pres">
      <dgm:prSet presAssocID="{2958EEA5-6633-48A1-ABDB-EB37C8CB8C0C}" presName="background" presStyleLbl="node0" presStyleIdx="2" presStyleCnt="4"/>
      <dgm:spPr/>
    </dgm:pt>
    <dgm:pt modelId="{CE55A795-F53C-466F-A752-FAF00DBDEBF4}" type="pres">
      <dgm:prSet presAssocID="{2958EEA5-6633-48A1-ABDB-EB37C8CB8C0C}" presName="text" presStyleLbl="fgAcc0" presStyleIdx="2" presStyleCnt="4">
        <dgm:presLayoutVars>
          <dgm:chPref val="3"/>
        </dgm:presLayoutVars>
      </dgm:prSet>
      <dgm:spPr/>
    </dgm:pt>
    <dgm:pt modelId="{8601DEB7-6F86-483A-B019-588C9E915B03}" type="pres">
      <dgm:prSet presAssocID="{2958EEA5-6633-48A1-ABDB-EB37C8CB8C0C}" presName="hierChild2" presStyleCnt="0"/>
      <dgm:spPr/>
    </dgm:pt>
    <dgm:pt modelId="{F7FED922-8C34-4486-A321-D733BD90B4D9}" type="pres">
      <dgm:prSet presAssocID="{CAE4F0B6-AF76-4037-8C9A-41D36498B4C3}" presName="hierRoot1" presStyleCnt="0"/>
      <dgm:spPr/>
    </dgm:pt>
    <dgm:pt modelId="{E07D51E9-94B5-4978-BA9C-F4A163B458E1}" type="pres">
      <dgm:prSet presAssocID="{CAE4F0B6-AF76-4037-8C9A-41D36498B4C3}" presName="composite" presStyleCnt="0"/>
      <dgm:spPr/>
    </dgm:pt>
    <dgm:pt modelId="{731DF785-0CDC-49CB-BE72-638EA854130E}" type="pres">
      <dgm:prSet presAssocID="{CAE4F0B6-AF76-4037-8C9A-41D36498B4C3}" presName="background" presStyleLbl="node0" presStyleIdx="3" presStyleCnt="4"/>
      <dgm:spPr/>
    </dgm:pt>
    <dgm:pt modelId="{FFBA8FC3-1D2C-4EE3-85B6-7F880DD39C10}" type="pres">
      <dgm:prSet presAssocID="{CAE4F0B6-AF76-4037-8C9A-41D36498B4C3}" presName="text" presStyleLbl="fgAcc0" presStyleIdx="3" presStyleCnt="4">
        <dgm:presLayoutVars>
          <dgm:chPref val="3"/>
        </dgm:presLayoutVars>
      </dgm:prSet>
      <dgm:spPr/>
    </dgm:pt>
    <dgm:pt modelId="{B80D2CC6-3130-478A-B416-6128FC175093}" type="pres">
      <dgm:prSet presAssocID="{CAE4F0B6-AF76-4037-8C9A-41D36498B4C3}" presName="hierChild2" presStyleCnt="0"/>
      <dgm:spPr/>
    </dgm:pt>
  </dgm:ptLst>
  <dgm:cxnLst>
    <dgm:cxn modelId="{FD28690B-9B83-4E92-A945-43C2706F1DCE}" type="presOf" srcId="{2958EEA5-6633-48A1-ABDB-EB37C8CB8C0C}" destId="{CE55A795-F53C-466F-A752-FAF00DBDEBF4}" srcOrd="0" destOrd="0" presId="urn:microsoft.com/office/officeart/2005/8/layout/hierarchy1"/>
    <dgm:cxn modelId="{A1208035-D8D5-4114-A7B4-892498FC16AF}" type="presOf" srcId="{CA54313E-5D9D-4320-9D69-EFBF0025BFB9}" destId="{C98D76C0-51D0-452A-B050-1E565CD63E51}" srcOrd="0" destOrd="0" presId="urn:microsoft.com/office/officeart/2005/8/layout/hierarchy1"/>
    <dgm:cxn modelId="{4D062F40-1B42-47CD-B264-98C264986BA9}" type="presOf" srcId="{77162210-137A-4C37-BCA6-DDB72BB0CC04}" destId="{EF43AD8E-42E3-4FFF-A2DF-88ABCDD80DE5}" srcOrd="0" destOrd="0" presId="urn:microsoft.com/office/officeart/2005/8/layout/hierarchy1"/>
    <dgm:cxn modelId="{CBB63C93-6F06-4A76-A7D0-B3103724ED41}" srcId="{CA54313E-5D9D-4320-9D69-EFBF0025BFB9}" destId="{CAE4F0B6-AF76-4037-8C9A-41D36498B4C3}" srcOrd="3" destOrd="0" parTransId="{157C1118-462E-4639-AB6D-5B8B9B4A1285}" sibTransId="{7557DB99-15F3-4982-9953-21566319F247}"/>
    <dgm:cxn modelId="{E9D73AB8-3C35-4BA2-A583-88E3AB9B74B0}" srcId="{CA54313E-5D9D-4320-9D69-EFBF0025BFB9}" destId="{77162210-137A-4C37-BCA6-DDB72BB0CC04}" srcOrd="0" destOrd="0" parTransId="{47661C98-87A5-4FF3-974F-D8EA151AF756}" sibTransId="{F641EAFF-992C-447E-847F-D2075FBB9071}"/>
    <dgm:cxn modelId="{B10AF3D2-56E0-4AAD-B0D8-670FEEF0335C}" type="presOf" srcId="{CAE4F0B6-AF76-4037-8C9A-41D36498B4C3}" destId="{FFBA8FC3-1D2C-4EE3-85B6-7F880DD39C10}" srcOrd="0" destOrd="0" presId="urn:microsoft.com/office/officeart/2005/8/layout/hierarchy1"/>
    <dgm:cxn modelId="{13F2F2D4-7BBC-413D-BAFB-4E87B33F53A7}" srcId="{CA54313E-5D9D-4320-9D69-EFBF0025BFB9}" destId="{2958EEA5-6633-48A1-ABDB-EB37C8CB8C0C}" srcOrd="2" destOrd="0" parTransId="{D0A53741-0318-4C81-9209-2B421330FB2A}" sibTransId="{E3B9DB9B-DF1E-4497-B78E-B10D08193E6E}"/>
    <dgm:cxn modelId="{CF7BF8F2-DB50-43B7-8587-E92C0BDE27A5}" srcId="{CA54313E-5D9D-4320-9D69-EFBF0025BFB9}" destId="{2EC4CFA0-C6A1-4148-B6EA-2345EEA03C66}" srcOrd="1" destOrd="0" parTransId="{7A7B6B12-B503-4E8B-A3FC-FDD4C15AEBA2}" sibTransId="{E3D3FEC2-CFDC-4E0C-98BF-A62CBCE445CB}"/>
    <dgm:cxn modelId="{F127BEF5-DD79-46BB-8B01-5B5C5A6EF316}" type="presOf" srcId="{2EC4CFA0-C6A1-4148-B6EA-2345EEA03C66}" destId="{F74DA6BF-0C97-4D67-B801-F76A8BD6DB8F}" srcOrd="0" destOrd="0" presId="urn:microsoft.com/office/officeart/2005/8/layout/hierarchy1"/>
    <dgm:cxn modelId="{137FF317-A943-4E22-923B-A2350E1F11AD}" type="presParOf" srcId="{C98D76C0-51D0-452A-B050-1E565CD63E51}" destId="{E07520BE-362E-40EF-AD90-64D9E82E7460}" srcOrd="0" destOrd="0" presId="urn:microsoft.com/office/officeart/2005/8/layout/hierarchy1"/>
    <dgm:cxn modelId="{8E19783F-8FF6-4484-907A-E71345CB1D28}" type="presParOf" srcId="{E07520BE-362E-40EF-AD90-64D9E82E7460}" destId="{2351ACF1-B4A3-4DDB-892B-3CCE8B3180B1}" srcOrd="0" destOrd="0" presId="urn:microsoft.com/office/officeart/2005/8/layout/hierarchy1"/>
    <dgm:cxn modelId="{39031B36-0C68-4BBC-BA08-270FD86C09D1}" type="presParOf" srcId="{2351ACF1-B4A3-4DDB-892B-3CCE8B3180B1}" destId="{45461173-B9DE-4524-9161-0B21A0C9939A}" srcOrd="0" destOrd="0" presId="urn:microsoft.com/office/officeart/2005/8/layout/hierarchy1"/>
    <dgm:cxn modelId="{62742C74-64EE-4D44-9028-C00326C35090}" type="presParOf" srcId="{2351ACF1-B4A3-4DDB-892B-3CCE8B3180B1}" destId="{EF43AD8E-42E3-4FFF-A2DF-88ABCDD80DE5}" srcOrd="1" destOrd="0" presId="urn:microsoft.com/office/officeart/2005/8/layout/hierarchy1"/>
    <dgm:cxn modelId="{A180495B-796F-405F-AFBA-DC6A133EC81F}" type="presParOf" srcId="{E07520BE-362E-40EF-AD90-64D9E82E7460}" destId="{7F164DAF-30CD-417C-81FE-731524413EB1}" srcOrd="1" destOrd="0" presId="urn:microsoft.com/office/officeart/2005/8/layout/hierarchy1"/>
    <dgm:cxn modelId="{14D83591-4CD4-4E4F-841E-CC0AE803F9A0}" type="presParOf" srcId="{C98D76C0-51D0-452A-B050-1E565CD63E51}" destId="{51FDA57E-0ECB-4D1E-8452-624A7BB11B14}" srcOrd="1" destOrd="0" presId="urn:microsoft.com/office/officeart/2005/8/layout/hierarchy1"/>
    <dgm:cxn modelId="{972AC0F9-9FAC-48C9-AAA6-80C59E96A1C0}" type="presParOf" srcId="{51FDA57E-0ECB-4D1E-8452-624A7BB11B14}" destId="{DF8CF4A5-D448-468B-A5FB-652771A9B92C}" srcOrd="0" destOrd="0" presId="urn:microsoft.com/office/officeart/2005/8/layout/hierarchy1"/>
    <dgm:cxn modelId="{4C61841A-5046-445F-9FBE-029AF2E646B6}" type="presParOf" srcId="{DF8CF4A5-D448-468B-A5FB-652771A9B92C}" destId="{F8167178-6378-4EF0-B6CE-292280F166DC}" srcOrd="0" destOrd="0" presId="urn:microsoft.com/office/officeart/2005/8/layout/hierarchy1"/>
    <dgm:cxn modelId="{98A08DC6-17C5-4E51-B507-E573979F2767}" type="presParOf" srcId="{DF8CF4A5-D448-468B-A5FB-652771A9B92C}" destId="{F74DA6BF-0C97-4D67-B801-F76A8BD6DB8F}" srcOrd="1" destOrd="0" presId="urn:microsoft.com/office/officeart/2005/8/layout/hierarchy1"/>
    <dgm:cxn modelId="{4095379D-5DE2-4437-991D-4A4AC597B09B}" type="presParOf" srcId="{51FDA57E-0ECB-4D1E-8452-624A7BB11B14}" destId="{C4A7D731-E5C2-42F8-B57E-CB2C5A599394}" srcOrd="1" destOrd="0" presId="urn:microsoft.com/office/officeart/2005/8/layout/hierarchy1"/>
    <dgm:cxn modelId="{490D665E-EC31-4450-A60C-DE4A20324E83}" type="presParOf" srcId="{C98D76C0-51D0-452A-B050-1E565CD63E51}" destId="{2D6B19D4-D88E-407F-BE49-5503BA7A5E83}" srcOrd="2" destOrd="0" presId="urn:microsoft.com/office/officeart/2005/8/layout/hierarchy1"/>
    <dgm:cxn modelId="{56FEB3DB-5D0E-4EDA-9AEE-1240D74EDE69}" type="presParOf" srcId="{2D6B19D4-D88E-407F-BE49-5503BA7A5E83}" destId="{1474DE15-5839-4D54-B2C1-3D40825D64A8}" srcOrd="0" destOrd="0" presId="urn:microsoft.com/office/officeart/2005/8/layout/hierarchy1"/>
    <dgm:cxn modelId="{569B4830-65AA-4931-BF94-8B2F9A690603}" type="presParOf" srcId="{1474DE15-5839-4D54-B2C1-3D40825D64A8}" destId="{00A294CB-6A98-4E03-9C97-64710D795B94}" srcOrd="0" destOrd="0" presId="urn:microsoft.com/office/officeart/2005/8/layout/hierarchy1"/>
    <dgm:cxn modelId="{DA13CE90-E24D-464B-8B6F-988417FA51A0}" type="presParOf" srcId="{1474DE15-5839-4D54-B2C1-3D40825D64A8}" destId="{CE55A795-F53C-466F-A752-FAF00DBDEBF4}" srcOrd="1" destOrd="0" presId="urn:microsoft.com/office/officeart/2005/8/layout/hierarchy1"/>
    <dgm:cxn modelId="{59C8D7DF-B270-4FC7-9C39-57246082245C}" type="presParOf" srcId="{2D6B19D4-D88E-407F-BE49-5503BA7A5E83}" destId="{8601DEB7-6F86-483A-B019-588C9E915B03}" srcOrd="1" destOrd="0" presId="urn:microsoft.com/office/officeart/2005/8/layout/hierarchy1"/>
    <dgm:cxn modelId="{25ECCFB5-BC44-4C46-A244-DCFDF7340915}" type="presParOf" srcId="{C98D76C0-51D0-452A-B050-1E565CD63E51}" destId="{F7FED922-8C34-4486-A321-D733BD90B4D9}" srcOrd="3" destOrd="0" presId="urn:microsoft.com/office/officeart/2005/8/layout/hierarchy1"/>
    <dgm:cxn modelId="{A3A28D3A-9958-428C-8307-45DE94E5A2FB}" type="presParOf" srcId="{F7FED922-8C34-4486-A321-D733BD90B4D9}" destId="{E07D51E9-94B5-4978-BA9C-F4A163B458E1}" srcOrd="0" destOrd="0" presId="urn:microsoft.com/office/officeart/2005/8/layout/hierarchy1"/>
    <dgm:cxn modelId="{1D696602-8B38-4351-8302-567C2C7FAE00}" type="presParOf" srcId="{E07D51E9-94B5-4978-BA9C-F4A163B458E1}" destId="{731DF785-0CDC-49CB-BE72-638EA854130E}" srcOrd="0" destOrd="0" presId="urn:microsoft.com/office/officeart/2005/8/layout/hierarchy1"/>
    <dgm:cxn modelId="{B28BA432-3967-4116-93B6-90619D67A7C7}" type="presParOf" srcId="{E07D51E9-94B5-4978-BA9C-F4A163B458E1}" destId="{FFBA8FC3-1D2C-4EE3-85B6-7F880DD39C10}" srcOrd="1" destOrd="0" presId="urn:microsoft.com/office/officeart/2005/8/layout/hierarchy1"/>
    <dgm:cxn modelId="{8B36D4E0-BDF7-4BEB-989F-397FB9922DBD}" type="presParOf" srcId="{F7FED922-8C34-4486-A321-D733BD90B4D9}" destId="{B80D2CC6-3130-478A-B416-6128FC175093}" srcOrd="1" destOrd="0" presId="urn:microsoft.com/office/officeart/2005/8/layout/hierarchy1"/>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461173-B9DE-4524-9161-0B21A0C9939A}">
      <dsp:nvSpPr>
        <dsp:cNvPr id="0" name=""/>
        <dsp:cNvSpPr/>
      </dsp:nvSpPr>
      <dsp:spPr>
        <a:xfrm>
          <a:off x="2812" y="749180"/>
          <a:ext cx="2008375" cy="127531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F43AD8E-42E3-4FFF-A2DF-88ABCDD80DE5}">
      <dsp:nvSpPr>
        <dsp:cNvPr id="0" name=""/>
        <dsp:cNvSpPr/>
      </dsp:nvSpPr>
      <dsp:spPr>
        <a:xfrm>
          <a:off x="225965" y="961175"/>
          <a:ext cx="2008375" cy="127531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Random Forest.</a:t>
          </a:r>
          <a:endParaRPr lang="en-US" sz="2600" kern="1200"/>
        </a:p>
      </dsp:txBody>
      <dsp:txXfrm>
        <a:off x="263318" y="998528"/>
        <a:ext cx="1933669" cy="1200612"/>
      </dsp:txXfrm>
    </dsp:sp>
    <dsp:sp modelId="{F8167178-6378-4EF0-B6CE-292280F166DC}">
      <dsp:nvSpPr>
        <dsp:cNvPr id="0" name=""/>
        <dsp:cNvSpPr/>
      </dsp:nvSpPr>
      <dsp:spPr>
        <a:xfrm>
          <a:off x="2457493" y="749180"/>
          <a:ext cx="2008375" cy="127531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4DA6BF-0C97-4D67-B801-F76A8BD6DB8F}">
      <dsp:nvSpPr>
        <dsp:cNvPr id="0" name=""/>
        <dsp:cNvSpPr/>
      </dsp:nvSpPr>
      <dsp:spPr>
        <a:xfrm>
          <a:off x="2680646" y="961175"/>
          <a:ext cx="2008375" cy="127531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ANN Neural Network.</a:t>
          </a:r>
          <a:endParaRPr lang="en-US" sz="2600" kern="1200"/>
        </a:p>
      </dsp:txBody>
      <dsp:txXfrm>
        <a:off x="2717999" y="998528"/>
        <a:ext cx="1933669" cy="1200612"/>
      </dsp:txXfrm>
    </dsp:sp>
    <dsp:sp modelId="{00A294CB-6A98-4E03-9C97-64710D795B94}">
      <dsp:nvSpPr>
        <dsp:cNvPr id="0" name=""/>
        <dsp:cNvSpPr/>
      </dsp:nvSpPr>
      <dsp:spPr>
        <a:xfrm>
          <a:off x="4912174" y="749180"/>
          <a:ext cx="2008375" cy="127531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E55A795-F53C-466F-A752-FAF00DBDEBF4}">
      <dsp:nvSpPr>
        <dsp:cNvPr id="0" name=""/>
        <dsp:cNvSpPr/>
      </dsp:nvSpPr>
      <dsp:spPr>
        <a:xfrm>
          <a:off x="5135327" y="961175"/>
          <a:ext cx="2008375" cy="127531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Logistical Regression.</a:t>
          </a:r>
          <a:endParaRPr lang="en-US" sz="2600" kern="1200"/>
        </a:p>
      </dsp:txBody>
      <dsp:txXfrm>
        <a:off x="5172680" y="998528"/>
        <a:ext cx="1933669" cy="1200612"/>
      </dsp:txXfrm>
    </dsp:sp>
    <dsp:sp modelId="{731DF785-0CDC-49CB-BE72-638EA854130E}">
      <dsp:nvSpPr>
        <dsp:cNvPr id="0" name=""/>
        <dsp:cNvSpPr/>
      </dsp:nvSpPr>
      <dsp:spPr>
        <a:xfrm>
          <a:off x="7366855" y="749180"/>
          <a:ext cx="2008375" cy="1275318"/>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BA8FC3-1D2C-4EE3-85B6-7F880DD39C10}">
      <dsp:nvSpPr>
        <dsp:cNvPr id="0" name=""/>
        <dsp:cNvSpPr/>
      </dsp:nvSpPr>
      <dsp:spPr>
        <a:xfrm>
          <a:off x="7590008" y="961175"/>
          <a:ext cx="2008375" cy="1275318"/>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a:t>K-Means</a:t>
          </a:r>
          <a:endParaRPr lang="en-US" sz="2600" kern="1200"/>
        </a:p>
      </dsp:txBody>
      <dsp:txXfrm>
        <a:off x="7627361" y="998528"/>
        <a:ext cx="1933669" cy="120061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06ED60-D6B6-4E94-9E51-673D715D396D}"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CC6CFC-FE1D-4958-8779-1B803D9CB161}" type="slidenum">
              <a:rPr lang="en-IN" smtClean="0"/>
              <a:t>‹#›</a:t>
            </a:fld>
            <a:endParaRPr lang="en-IN"/>
          </a:p>
        </p:txBody>
      </p:sp>
    </p:spTree>
    <p:extLst>
      <p:ext uri="{BB962C8B-B14F-4D97-AF65-F5344CB8AC3E}">
        <p14:creationId xmlns:p14="http://schemas.microsoft.com/office/powerpoint/2010/main" val="11031034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p:txBody>
          <a:bodyPr/>
          <a:lstStyle/>
          <a:p>
            <a:fld id="{4DCC6CFC-FE1D-4958-8779-1B803D9CB161}" type="slidenum">
              <a:rPr lang="en-IN" smtClean="0"/>
              <a:t>3</a:t>
            </a:fld>
            <a:endParaRPr lang="en-IN"/>
          </a:p>
        </p:txBody>
      </p:sp>
    </p:spTree>
    <p:extLst>
      <p:ext uri="{BB962C8B-B14F-4D97-AF65-F5344CB8AC3E}">
        <p14:creationId xmlns:p14="http://schemas.microsoft.com/office/powerpoint/2010/main" val="178747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CC6CFC-FE1D-4958-8779-1B803D9CB161}" type="slidenum">
              <a:rPr lang="en-IN" smtClean="0"/>
              <a:t>15</a:t>
            </a:fld>
            <a:endParaRPr lang="en-IN"/>
          </a:p>
        </p:txBody>
      </p:sp>
    </p:spTree>
    <p:extLst>
      <p:ext uri="{BB962C8B-B14F-4D97-AF65-F5344CB8AC3E}">
        <p14:creationId xmlns:p14="http://schemas.microsoft.com/office/powerpoint/2010/main" val="2999677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CC6CFC-FE1D-4958-8779-1B803D9CB161}" type="slidenum">
              <a:rPr lang="en-IN" smtClean="0"/>
              <a:t>22</a:t>
            </a:fld>
            <a:endParaRPr lang="en-IN"/>
          </a:p>
        </p:txBody>
      </p:sp>
    </p:spTree>
    <p:extLst>
      <p:ext uri="{BB962C8B-B14F-4D97-AF65-F5344CB8AC3E}">
        <p14:creationId xmlns:p14="http://schemas.microsoft.com/office/powerpoint/2010/main" val="329963571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2/6/2026</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2.jpeg"/><Relationship Id="rId7" Type="http://schemas.openxmlformats.org/officeDocument/2006/relationships/diagramLayout" Target="../diagrams/layout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4.png"/><Relationship Id="rId10" Type="http://schemas.microsoft.com/office/2007/relationships/diagramDrawing" Target="../diagrams/drawing1.xml"/><Relationship Id="rId4" Type="http://schemas.openxmlformats.org/officeDocument/2006/relationships/image" Target="../media/image3.png"/><Relationship Id="rId9" Type="http://schemas.openxmlformats.org/officeDocument/2006/relationships/diagramColors" Target="../diagrams/colors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8BAEA5-24A0-05C2-18FF-F1F940A9A967}"/>
              </a:ext>
            </a:extLst>
          </p:cNvPr>
          <p:cNvSpPr>
            <a:spLocks noGrp="1"/>
          </p:cNvSpPr>
          <p:nvPr>
            <p:ph type="ctrTitle"/>
          </p:nvPr>
        </p:nvSpPr>
        <p:spPr>
          <a:xfrm>
            <a:off x="2688165" y="2565400"/>
            <a:ext cx="6815670" cy="863600"/>
          </a:xfrm>
        </p:spPr>
        <p:txBody>
          <a:bodyPr/>
          <a:lstStyle/>
          <a:p>
            <a:r>
              <a:rPr lang="en-US" sz="2400" dirty="0">
                <a:solidFill>
                  <a:srgbClr val="7030A0"/>
                </a:solidFill>
              </a:rPr>
              <a:t>Unravelling Patterns: A Review of Machine Learning Algorithms - Comparisons and Insights for Enhanced Geospatial Insights</a:t>
            </a:r>
            <a:endParaRPr lang="en-IN" sz="2400" dirty="0"/>
          </a:p>
        </p:txBody>
      </p:sp>
      <p:sp>
        <p:nvSpPr>
          <p:cNvPr id="5" name="Subtitle 4">
            <a:extLst>
              <a:ext uri="{FF2B5EF4-FFF2-40B4-BE49-F238E27FC236}">
                <a16:creationId xmlns:a16="http://schemas.microsoft.com/office/drawing/2014/main" id="{BE34F201-3864-47DA-CF04-48D2C6AB73DC}"/>
              </a:ext>
            </a:extLst>
          </p:cNvPr>
          <p:cNvSpPr>
            <a:spLocks noGrp="1"/>
          </p:cNvSpPr>
          <p:nvPr>
            <p:ph type="subTitle" idx="1"/>
          </p:nvPr>
        </p:nvSpPr>
        <p:spPr>
          <a:xfrm>
            <a:off x="2976878" y="3698237"/>
            <a:ext cx="6815669" cy="1320802"/>
          </a:xfrm>
        </p:spPr>
        <p:txBody>
          <a:bodyPr>
            <a:noAutofit/>
          </a:bodyPr>
          <a:lstStyle/>
          <a:p>
            <a:pPr algn="r"/>
            <a:r>
              <a:rPr lang="en-IN" sz="2000" dirty="0"/>
              <a:t>K CHAITRA LATHA</a:t>
            </a:r>
          </a:p>
          <a:p>
            <a:pPr algn="r"/>
            <a:r>
              <a:rPr lang="en-IN" sz="2000" dirty="0"/>
              <a:t>MCA in DATA SCIENCE</a:t>
            </a:r>
          </a:p>
        </p:txBody>
      </p:sp>
    </p:spTree>
    <p:extLst>
      <p:ext uri="{BB962C8B-B14F-4D97-AF65-F5344CB8AC3E}">
        <p14:creationId xmlns:p14="http://schemas.microsoft.com/office/powerpoint/2010/main" val="1649351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E1C2-1D4F-FD11-7785-1701EA070722}"/>
              </a:ext>
            </a:extLst>
          </p:cNvPr>
          <p:cNvSpPr>
            <a:spLocks noGrp="1"/>
          </p:cNvSpPr>
          <p:nvPr>
            <p:ph type="title"/>
          </p:nvPr>
        </p:nvSpPr>
        <p:spPr>
          <a:xfrm>
            <a:off x="2317957" y="2742106"/>
            <a:ext cx="9601196" cy="1733772"/>
          </a:xfrm>
        </p:spPr>
        <p:txBody>
          <a:bodyPr>
            <a:normAutofit/>
          </a:bodyPr>
          <a:lstStyle/>
          <a:p>
            <a:br>
              <a:rPr lang="en-US" sz="2000" b="1" dirty="0"/>
            </a:br>
            <a:endParaRPr lang="en-IN" sz="2000" dirty="0"/>
          </a:p>
        </p:txBody>
      </p:sp>
      <p:sp>
        <p:nvSpPr>
          <p:cNvPr id="3" name="Content Placeholder 2">
            <a:extLst>
              <a:ext uri="{FF2B5EF4-FFF2-40B4-BE49-F238E27FC236}">
                <a16:creationId xmlns:a16="http://schemas.microsoft.com/office/drawing/2014/main" id="{1154E1D3-F3EF-7110-7AD9-4AD4C21EC8A1}"/>
              </a:ext>
            </a:extLst>
          </p:cNvPr>
          <p:cNvSpPr>
            <a:spLocks noGrp="1"/>
          </p:cNvSpPr>
          <p:nvPr>
            <p:ph idx="1"/>
          </p:nvPr>
        </p:nvSpPr>
        <p:spPr/>
        <p:txBody>
          <a:bodyPr>
            <a:normAutofit fontScale="92500" lnSpcReduction="10000"/>
          </a:bodyPr>
          <a:lstStyle/>
          <a:p>
            <a:pPr algn="just"/>
            <a:r>
              <a:rPr lang="en-US" dirty="0"/>
              <a:t>This project investigates the application of various ML algorithms, including supervised, unsupervised, and deep learning models, to enhance geospatial data classification and trend analysis. Using tools like Google Earth Pro and QGIS, satellite imagery from Delhi was processed into multiple bands (urban, water, forest, and other categories). By leveraging for classification, the project evaluated the effectiveness of these methods in predicting and mapping geographic patterns. The extracted data was refined into training and testing sets, facilitating a comprehensive performance comparison. This research aims to provide robust, data-driven recommendations for researchers and policymakers by optimizing classification accuracy and geospatial insights across diverse landscapes.</a:t>
            </a:r>
          </a:p>
        </p:txBody>
      </p:sp>
      <p:sp>
        <p:nvSpPr>
          <p:cNvPr id="5" name="Rectangle 2">
            <a:extLst>
              <a:ext uri="{FF2B5EF4-FFF2-40B4-BE49-F238E27FC236}">
                <a16:creationId xmlns:a16="http://schemas.microsoft.com/office/drawing/2014/main" id="{08EB0EA7-3D66-96B5-4A43-C0F2FFD849AC}"/>
              </a:ext>
            </a:extLst>
          </p:cNvPr>
          <p:cNvSpPr>
            <a:spLocks noChangeArrowheads="1"/>
          </p:cNvSpPr>
          <p:nvPr/>
        </p:nvSpPr>
        <p:spPr bwMode="auto">
          <a:xfrm>
            <a:off x="2147036" y="1771848"/>
            <a:ext cx="77136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mj-lt"/>
              </a:rPr>
              <a:t>"Geospatial Data Classification Using ML: An Overview"</a:t>
            </a:r>
            <a:endParaRPr kumimoji="0" lang="en-US" altLang="en-US" sz="24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307164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E7DEDD00-5E71-418B-9C3C-9B71B01822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10" name="Picture 9">
              <a:extLst>
                <a:ext uri="{FF2B5EF4-FFF2-40B4-BE49-F238E27FC236}">
                  <a16:creationId xmlns:a16="http://schemas.microsoft.com/office/drawing/2014/main" id="{F08AA894-60A7-4A09-919E-54EF7C3EC82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 name="Rectangle 10">
              <a:extLst>
                <a:ext uri="{FF2B5EF4-FFF2-40B4-BE49-F238E27FC236}">
                  <a16:creationId xmlns:a16="http://schemas.microsoft.com/office/drawing/2014/main" id="{44680684-9D82-4E2B-9E9A-778390DA9E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2" name="Picture 11">
              <a:extLst>
                <a:ext uri="{FF2B5EF4-FFF2-40B4-BE49-F238E27FC236}">
                  <a16:creationId xmlns:a16="http://schemas.microsoft.com/office/drawing/2014/main" id="{E28899EB-8201-46DC-A208-67136E6BA1A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3" name="Picture 12">
              <a:extLst>
                <a:ext uri="{FF2B5EF4-FFF2-40B4-BE49-F238E27FC236}">
                  <a16:creationId xmlns:a16="http://schemas.microsoft.com/office/drawing/2014/main" id="{58681DBB-DB5A-40DF-8333-C7E1C945B5B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44B88B74-1886-C5F0-53A7-D6AFA6159577}"/>
              </a:ext>
            </a:extLst>
          </p:cNvPr>
          <p:cNvSpPr>
            <a:spLocks noGrp="1"/>
          </p:cNvSpPr>
          <p:nvPr>
            <p:ph type="title"/>
          </p:nvPr>
        </p:nvSpPr>
        <p:spPr>
          <a:xfrm>
            <a:off x="1295402" y="982132"/>
            <a:ext cx="9601196" cy="1303867"/>
          </a:xfrm>
        </p:spPr>
        <p:txBody>
          <a:bodyPr>
            <a:normAutofit/>
          </a:bodyPr>
          <a:lstStyle/>
          <a:p>
            <a:pPr>
              <a:lnSpc>
                <a:spcPct val="90000"/>
              </a:lnSpc>
            </a:pPr>
            <a:br>
              <a:rPr lang="en-IN" sz="4100">
                <a:solidFill>
                  <a:srgbClr val="262626"/>
                </a:solidFill>
              </a:rPr>
            </a:br>
            <a:r>
              <a:rPr lang="en-IN" sz="4100" b="1">
                <a:solidFill>
                  <a:srgbClr val="262626"/>
                </a:solidFill>
              </a:rPr>
              <a:t>Types of Algorithms</a:t>
            </a:r>
          </a:p>
        </p:txBody>
      </p:sp>
      <p:graphicFrame>
        <p:nvGraphicFramePr>
          <p:cNvPr id="5" name="Content Placeholder 2">
            <a:extLst>
              <a:ext uri="{FF2B5EF4-FFF2-40B4-BE49-F238E27FC236}">
                <a16:creationId xmlns:a16="http://schemas.microsoft.com/office/drawing/2014/main" id="{2949BE3D-78C6-AC4B-E676-2BF374D026D5}"/>
              </a:ext>
            </a:extLst>
          </p:cNvPr>
          <p:cNvGraphicFramePr>
            <a:graphicFrameLocks noGrp="1"/>
          </p:cNvGraphicFramePr>
          <p:nvPr>
            <p:ph idx="1"/>
            <p:extLst>
              <p:ext uri="{D42A27DB-BD31-4B8C-83A1-F6EECF244321}">
                <p14:modId xmlns:p14="http://schemas.microsoft.com/office/powerpoint/2010/main" val="635169563"/>
              </p:ext>
            </p:extLst>
          </p:nvPr>
        </p:nvGraphicFramePr>
        <p:xfrm>
          <a:off x="1295401" y="2675822"/>
          <a:ext cx="9601197" cy="298567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914654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63B8A-579E-E710-CC89-367742094A3E}"/>
              </a:ext>
            </a:extLst>
          </p:cNvPr>
          <p:cNvSpPr>
            <a:spLocks noGrp="1"/>
          </p:cNvSpPr>
          <p:nvPr>
            <p:ph type="title"/>
          </p:nvPr>
        </p:nvSpPr>
        <p:spPr>
          <a:xfrm>
            <a:off x="1295402" y="668740"/>
            <a:ext cx="9601196" cy="3318936"/>
          </a:xfrm>
        </p:spPr>
        <p:txBody>
          <a:bodyPr>
            <a:normAutofit/>
          </a:bodyPr>
          <a:lstStyle/>
          <a:p>
            <a:r>
              <a:rPr lang="en-IN" sz="4400" dirty="0">
                <a:latin typeface="Algerian" panose="04020705040A02060702" pitchFamily="82" charset="0"/>
              </a:rPr>
              <a:t>Earth Explore </a:t>
            </a:r>
            <a:br>
              <a:rPr lang="en-IN" sz="4400" dirty="0">
                <a:latin typeface="Algerian" panose="04020705040A02060702" pitchFamily="82" charset="0"/>
              </a:rPr>
            </a:br>
            <a:endParaRPr lang="en-IN" dirty="0"/>
          </a:p>
        </p:txBody>
      </p:sp>
      <p:sp>
        <p:nvSpPr>
          <p:cNvPr id="3" name="Content Placeholder 2">
            <a:extLst>
              <a:ext uri="{FF2B5EF4-FFF2-40B4-BE49-F238E27FC236}">
                <a16:creationId xmlns:a16="http://schemas.microsoft.com/office/drawing/2014/main" id="{5DFE3F77-A177-6FCC-8F09-00B532061490}"/>
              </a:ext>
            </a:extLst>
          </p:cNvPr>
          <p:cNvSpPr>
            <a:spLocks noGrp="1"/>
          </p:cNvSpPr>
          <p:nvPr>
            <p:ph idx="1"/>
          </p:nvPr>
        </p:nvSpPr>
        <p:spPr/>
        <p:txBody>
          <a:bodyPr>
            <a:normAutofit lnSpcReduction="10000"/>
          </a:bodyPr>
          <a:lstStyle/>
          <a:p>
            <a:pPr marL="0" indent="0">
              <a:buNone/>
            </a:pPr>
            <a:r>
              <a:rPr lang="en-US" sz="2400" dirty="0"/>
              <a:t> </a:t>
            </a:r>
            <a:r>
              <a:rPr lang="en-US" sz="2600" dirty="0"/>
              <a:t>To study Earth's features, including urban areas, forests, water bodies, and ecosystems, using satellite imagery and geospatial data. This helps in making informed decisions on sustainability, resource management, and development planning.</a:t>
            </a:r>
          </a:p>
          <a:p>
            <a:r>
              <a:rPr lang="en-US" sz="2800" b="1" dirty="0"/>
              <a:t>Libraries</a:t>
            </a:r>
            <a:r>
              <a:rPr lang="en-US" sz="2400" dirty="0">
                <a:latin typeface="Amasis MT Pro Black" panose="02040A04050005020304" pitchFamily="18" charset="0"/>
              </a:rPr>
              <a:t> </a:t>
            </a:r>
            <a:r>
              <a:rPr lang="en-US" sz="2400" dirty="0"/>
              <a:t>: </a:t>
            </a:r>
            <a:r>
              <a:rPr lang="en-US" sz="2400" dirty="0" err="1"/>
              <a:t>Geopandas</a:t>
            </a:r>
            <a:r>
              <a:rPr lang="en-US" sz="2400" dirty="0"/>
              <a:t> , Raster, Matplotlib.</a:t>
            </a:r>
          </a:p>
          <a:p>
            <a:r>
              <a:rPr lang="en-US" sz="2800" b="1" dirty="0"/>
              <a:t>Data Formats </a:t>
            </a:r>
            <a:r>
              <a:rPr lang="en-US" sz="2400" dirty="0"/>
              <a:t>: </a:t>
            </a:r>
            <a:r>
              <a:rPr lang="en-US" sz="2400" dirty="0" err="1"/>
              <a:t>GeoTIFF</a:t>
            </a:r>
            <a:r>
              <a:rPr lang="en-US" sz="2400" dirty="0"/>
              <a:t>, shapefiles, CSV , JSON</a:t>
            </a:r>
          </a:p>
          <a:p>
            <a:r>
              <a:rPr lang="en-US" sz="2400" dirty="0"/>
              <a:t>Handling cloud cover and image noise in satellite data</a:t>
            </a:r>
          </a:p>
        </p:txBody>
      </p:sp>
    </p:spTree>
    <p:extLst>
      <p:ext uri="{BB962C8B-B14F-4D97-AF65-F5344CB8AC3E}">
        <p14:creationId xmlns:p14="http://schemas.microsoft.com/office/powerpoint/2010/main" val="747775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75F48-425C-F09F-B2CE-8391E868AE64}"/>
              </a:ext>
            </a:extLst>
          </p:cNvPr>
          <p:cNvSpPr>
            <a:spLocks noGrp="1"/>
          </p:cNvSpPr>
          <p:nvPr>
            <p:ph type="title"/>
          </p:nvPr>
        </p:nvSpPr>
        <p:spPr>
          <a:xfrm>
            <a:off x="1295402" y="1635760"/>
            <a:ext cx="9601196" cy="650239"/>
          </a:xfrm>
        </p:spPr>
        <p:txBody>
          <a:bodyPr>
            <a:normAutofit fontScale="90000"/>
          </a:bodyPr>
          <a:lstStyle/>
          <a:p>
            <a:r>
              <a:rPr lang="en-IN" dirty="0">
                <a:latin typeface="Algerian" panose="04020705040A02060702" pitchFamily="82" charset="0"/>
              </a:rPr>
              <a:t>Google Earth Pro</a:t>
            </a:r>
          </a:p>
        </p:txBody>
      </p:sp>
      <p:sp>
        <p:nvSpPr>
          <p:cNvPr id="3" name="Content Placeholder 2">
            <a:extLst>
              <a:ext uri="{FF2B5EF4-FFF2-40B4-BE49-F238E27FC236}">
                <a16:creationId xmlns:a16="http://schemas.microsoft.com/office/drawing/2014/main" id="{45BA182A-9B49-811D-DDD2-5C34DEF595FA}"/>
              </a:ext>
            </a:extLst>
          </p:cNvPr>
          <p:cNvSpPr>
            <a:spLocks noGrp="1"/>
          </p:cNvSpPr>
          <p:nvPr>
            <p:ph idx="1"/>
          </p:nvPr>
        </p:nvSpPr>
        <p:spPr/>
        <p:txBody>
          <a:bodyPr/>
          <a:lstStyle/>
          <a:p>
            <a:r>
              <a:rPr lang="en-US" dirty="0"/>
              <a:t>To classify or analyze different land cover types (e.g., urban , water, forests , Others) using training and testing datasets selected from satellite imagery  and It offers advanced tools for mapping , measuring distance and analyzing geographic trends in Google Earth Pro</a:t>
            </a:r>
          </a:p>
          <a:p>
            <a:r>
              <a:rPr lang="en-US" dirty="0"/>
              <a:t>Convert KML/KMZ to a format compatible with your analysis tool (e.g., </a:t>
            </a:r>
            <a:r>
              <a:rPr lang="en-US" dirty="0" err="1"/>
              <a:t>GeoJSON</a:t>
            </a:r>
            <a:r>
              <a:rPr lang="en-US" dirty="0"/>
              <a:t>, CSV)</a:t>
            </a:r>
          </a:p>
          <a:p>
            <a:r>
              <a:rPr lang="en-US" dirty="0"/>
              <a:t>With only 30 training and 10 testing points, the model's performance may be limited. Increasing sample size and diversity can improve generalization.</a:t>
            </a:r>
            <a:endParaRPr lang="en-IN" dirty="0"/>
          </a:p>
        </p:txBody>
      </p:sp>
    </p:spTree>
    <p:extLst>
      <p:ext uri="{BB962C8B-B14F-4D97-AF65-F5344CB8AC3E}">
        <p14:creationId xmlns:p14="http://schemas.microsoft.com/office/powerpoint/2010/main" val="3301167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6A8D-FE8D-D41B-E6C3-17A49179F486}"/>
              </a:ext>
            </a:extLst>
          </p:cNvPr>
          <p:cNvSpPr>
            <a:spLocks noGrp="1"/>
          </p:cNvSpPr>
          <p:nvPr>
            <p:ph type="title"/>
          </p:nvPr>
        </p:nvSpPr>
        <p:spPr>
          <a:xfrm>
            <a:off x="1022447" y="982132"/>
            <a:ext cx="9601196" cy="1303867"/>
          </a:xfrm>
        </p:spPr>
        <p:txBody>
          <a:bodyPr>
            <a:normAutofit fontScale="90000"/>
          </a:bodyPr>
          <a:lstStyle/>
          <a:p>
            <a:r>
              <a:rPr lang="en-IN" dirty="0">
                <a:latin typeface="Algerian" panose="04020705040A02060702" pitchFamily="82" charset="0"/>
              </a:rPr>
              <a:t>QGIS </a:t>
            </a:r>
            <a:br>
              <a:rPr lang="en-IN" dirty="0">
                <a:latin typeface="Algerian" panose="04020705040A02060702" pitchFamily="82" charset="0"/>
              </a:rPr>
            </a:br>
            <a:r>
              <a:rPr lang="en-IN" sz="4000" b="1" dirty="0"/>
              <a:t>(Quantum Geographic Information System)</a:t>
            </a:r>
            <a:r>
              <a:rPr lang="en-IN" sz="4000" dirty="0"/>
              <a:t> </a:t>
            </a:r>
            <a:endParaRPr lang="en-IN" sz="4000" dirty="0">
              <a:latin typeface="Algerian" panose="04020705040A02060702" pitchFamily="82" charset="0"/>
            </a:endParaRPr>
          </a:p>
        </p:txBody>
      </p:sp>
      <p:sp>
        <p:nvSpPr>
          <p:cNvPr id="3" name="Content Placeholder 2">
            <a:extLst>
              <a:ext uri="{FF2B5EF4-FFF2-40B4-BE49-F238E27FC236}">
                <a16:creationId xmlns:a16="http://schemas.microsoft.com/office/drawing/2014/main" id="{F274CAE8-14E1-3A69-03C9-A692343664A7}"/>
              </a:ext>
            </a:extLst>
          </p:cNvPr>
          <p:cNvSpPr>
            <a:spLocks noGrp="1"/>
          </p:cNvSpPr>
          <p:nvPr>
            <p:ph idx="1"/>
          </p:nvPr>
        </p:nvSpPr>
        <p:spPr>
          <a:xfrm>
            <a:off x="1418230" y="2556932"/>
            <a:ext cx="9601196" cy="3318936"/>
          </a:xfrm>
        </p:spPr>
        <p:txBody>
          <a:bodyPr/>
          <a:lstStyle/>
          <a:p>
            <a:r>
              <a:rPr lang="en-US" dirty="0"/>
              <a:t>Display vector (points, lines, polygons) and raster (satellite imagery, elevation models) data.</a:t>
            </a:r>
          </a:p>
          <a:p>
            <a:r>
              <a:rPr lang="en-US" dirty="0"/>
              <a:t>Add, delete, or modify features and attributes of spatial data.</a:t>
            </a:r>
          </a:p>
          <a:p>
            <a:r>
              <a:rPr lang="en-IN" dirty="0"/>
              <a:t>Vector Data : Shapefiles (.</a:t>
            </a:r>
            <a:r>
              <a:rPr lang="en-IN" dirty="0" err="1"/>
              <a:t>shp</a:t>
            </a:r>
            <a:r>
              <a:rPr lang="en-IN" dirty="0"/>
              <a:t>), </a:t>
            </a:r>
            <a:r>
              <a:rPr lang="en-IN" dirty="0" err="1"/>
              <a:t>GeoJSON</a:t>
            </a:r>
            <a:r>
              <a:rPr lang="en-IN" dirty="0"/>
              <a:t>, KML/KMZ, CSV.</a:t>
            </a:r>
          </a:p>
          <a:p>
            <a:r>
              <a:rPr lang="en-IN" dirty="0"/>
              <a:t>Raster Data : </a:t>
            </a:r>
            <a:r>
              <a:rPr lang="en-IN" dirty="0" err="1"/>
              <a:t>GeoTIFF</a:t>
            </a:r>
            <a:r>
              <a:rPr lang="en-IN" dirty="0"/>
              <a:t>.</a:t>
            </a:r>
          </a:p>
        </p:txBody>
      </p:sp>
    </p:spTree>
    <p:extLst>
      <p:ext uri="{BB962C8B-B14F-4D97-AF65-F5344CB8AC3E}">
        <p14:creationId xmlns:p14="http://schemas.microsoft.com/office/powerpoint/2010/main" val="1044127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E623A-A04D-0A40-9AE4-C2FDF2049ABD}"/>
              </a:ext>
            </a:extLst>
          </p:cNvPr>
          <p:cNvSpPr>
            <a:spLocks noGrp="1"/>
          </p:cNvSpPr>
          <p:nvPr>
            <p:ph type="title"/>
          </p:nvPr>
        </p:nvSpPr>
        <p:spPr>
          <a:xfrm>
            <a:off x="1295402" y="982132"/>
            <a:ext cx="9601196" cy="1747420"/>
          </a:xfrm>
        </p:spPr>
        <p:txBody>
          <a:bodyPr>
            <a:normAutofit/>
          </a:bodyPr>
          <a:lstStyle/>
          <a:p>
            <a:r>
              <a:rPr lang="en-IN" b="1" dirty="0"/>
              <a:t> Research Methodology</a:t>
            </a:r>
            <a:br>
              <a:rPr lang="en-IN" b="1" dirty="0"/>
            </a:br>
            <a:endParaRPr lang="en-IN" dirty="0"/>
          </a:p>
        </p:txBody>
      </p:sp>
      <p:sp>
        <p:nvSpPr>
          <p:cNvPr id="3" name="Content Placeholder 2">
            <a:extLst>
              <a:ext uri="{FF2B5EF4-FFF2-40B4-BE49-F238E27FC236}">
                <a16:creationId xmlns:a16="http://schemas.microsoft.com/office/drawing/2014/main" id="{55104325-13EF-6E77-D851-2D7556435612}"/>
              </a:ext>
            </a:extLst>
          </p:cNvPr>
          <p:cNvSpPr>
            <a:spLocks noGrp="1"/>
          </p:cNvSpPr>
          <p:nvPr>
            <p:ph idx="1"/>
          </p:nvPr>
        </p:nvSpPr>
        <p:spPr/>
        <p:txBody>
          <a:bodyPr>
            <a:normAutofit fontScale="92500" lnSpcReduction="10000"/>
          </a:bodyPr>
          <a:lstStyle/>
          <a:p>
            <a:r>
              <a:rPr lang="en-US" b="1" dirty="0"/>
              <a:t> Data Collection</a:t>
            </a:r>
          </a:p>
          <a:p>
            <a:pPr>
              <a:buFont typeface="Arial" panose="020B0604020202020204" pitchFamily="34" charset="0"/>
              <a:buChar char="•"/>
            </a:pPr>
            <a:r>
              <a:rPr lang="en-US" b="1" dirty="0"/>
              <a:t>Source:</a:t>
            </a:r>
            <a:r>
              <a:rPr lang="en-US" dirty="0"/>
              <a:t> Earth Explorer and QGIS software.</a:t>
            </a:r>
          </a:p>
          <a:p>
            <a:pPr>
              <a:buFont typeface="Arial" panose="020B0604020202020204" pitchFamily="34" charset="0"/>
              <a:buChar char="•"/>
            </a:pPr>
            <a:r>
              <a:rPr lang="en-US" b="1" dirty="0"/>
              <a:t>Year:</a:t>
            </a:r>
            <a:r>
              <a:rPr lang="en-US" dirty="0"/>
              <a:t> 2014,2016,2020,2024 satellite imagery of Delhi.</a:t>
            </a:r>
          </a:p>
          <a:p>
            <a:pPr>
              <a:buFont typeface="Arial" panose="020B0604020202020204" pitchFamily="34" charset="0"/>
              <a:buChar char="•"/>
            </a:pPr>
            <a:r>
              <a:rPr lang="en-US" b="1" dirty="0"/>
              <a:t>Categories:</a:t>
            </a:r>
            <a:r>
              <a:rPr lang="en-US" dirty="0"/>
              <a:t> Urban areas, water bodies, forests, and others.</a:t>
            </a:r>
          </a:p>
          <a:p>
            <a:pPr marL="0" indent="0">
              <a:buNone/>
            </a:pPr>
            <a:r>
              <a:rPr lang="en-US" b="1" dirty="0"/>
              <a:t>   Data Preparation</a:t>
            </a:r>
          </a:p>
          <a:p>
            <a:pPr>
              <a:buFont typeface="Arial" panose="020B0604020202020204" pitchFamily="34" charset="0"/>
              <a:buChar char="•"/>
            </a:pPr>
            <a:r>
              <a:rPr lang="en-US" dirty="0"/>
              <a:t>Extraction and processing of raster files for different land-use categories.</a:t>
            </a:r>
          </a:p>
          <a:p>
            <a:pPr>
              <a:buFont typeface="Arial" panose="020B0604020202020204" pitchFamily="34" charset="0"/>
              <a:buChar char="•"/>
            </a:pPr>
            <a:r>
              <a:rPr lang="en-US" dirty="0"/>
              <a:t>Preprocessing steps include data cleaning, normalization, and resizing.</a:t>
            </a:r>
          </a:p>
          <a:p>
            <a:endParaRPr lang="en-IN" dirty="0"/>
          </a:p>
        </p:txBody>
      </p:sp>
    </p:spTree>
    <p:extLst>
      <p:ext uri="{BB962C8B-B14F-4D97-AF65-F5344CB8AC3E}">
        <p14:creationId xmlns:p14="http://schemas.microsoft.com/office/powerpoint/2010/main" val="186232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C0849-F0FC-0CDA-68CE-2AA539278713}"/>
              </a:ext>
            </a:extLst>
          </p:cNvPr>
          <p:cNvSpPr>
            <a:spLocks noGrp="1"/>
          </p:cNvSpPr>
          <p:nvPr>
            <p:ph type="title"/>
          </p:nvPr>
        </p:nvSpPr>
        <p:spPr/>
        <p:txBody>
          <a:bodyPr/>
          <a:lstStyle/>
          <a:p>
            <a:r>
              <a:rPr lang="en-IN" sz="4400" dirty="0"/>
              <a:t>Random Forest</a:t>
            </a:r>
            <a:endParaRPr lang="en-IN" dirty="0"/>
          </a:p>
        </p:txBody>
      </p:sp>
      <p:sp>
        <p:nvSpPr>
          <p:cNvPr id="3" name="Content Placeholder 2">
            <a:extLst>
              <a:ext uri="{FF2B5EF4-FFF2-40B4-BE49-F238E27FC236}">
                <a16:creationId xmlns:a16="http://schemas.microsoft.com/office/drawing/2014/main" id="{5E79E834-47B7-5FD1-14F6-6E282E336DA2}"/>
              </a:ext>
            </a:extLst>
          </p:cNvPr>
          <p:cNvSpPr>
            <a:spLocks noGrp="1"/>
          </p:cNvSpPr>
          <p:nvPr>
            <p:ph idx="1"/>
          </p:nvPr>
        </p:nvSpPr>
        <p:spPr/>
        <p:txBody>
          <a:bodyPr/>
          <a:lstStyle/>
          <a:p>
            <a:r>
              <a:rPr lang="en-US" dirty="0"/>
              <a:t>To accurately classify forest areas in geospatial data using machine learning.</a:t>
            </a:r>
          </a:p>
          <a:p>
            <a:r>
              <a:rPr lang="en-US" dirty="0"/>
              <a:t>Extracted from the raster file. </a:t>
            </a:r>
            <a:r>
              <a:rPr lang="en-US" dirty="0" err="1"/>
              <a:t>Forest_Training_Extracted.tif</a:t>
            </a:r>
            <a:r>
              <a:rPr lang="en-US" dirty="0"/>
              <a:t>.</a:t>
            </a:r>
          </a:p>
          <a:p>
            <a:r>
              <a:rPr lang="en-IN" dirty="0"/>
              <a:t>Flatten raster data into 2D arrays.</a:t>
            </a:r>
          </a:p>
          <a:p>
            <a:r>
              <a:rPr lang="en-US" dirty="0"/>
              <a:t>Assign labels (Class 1) to forest pixels.</a:t>
            </a:r>
            <a:endParaRPr lang="en-IN" dirty="0"/>
          </a:p>
          <a:p>
            <a:r>
              <a:rPr lang="en-US" dirty="0"/>
              <a:t>Combine forest data with other class data (urban, water, others)</a:t>
            </a:r>
            <a:r>
              <a:rPr lang="en-IN" dirty="0"/>
              <a:t> </a:t>
            </a:r>
          </a:p>
        </p:txBody>
      </p:sp>
    </p:spTree>
    <p:extLst>
      <p:ext uri="{BB962C8B-B14F-4D97-AF65-F5344CB8AC3E}">
        <p14:creationId xmlns:p14="http://schemas.microsoft.com/office/powerpoint/2010/main" val="14672687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6" name="Picture 35">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54" name="Rectangle 53">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8" name="Picture 37">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9" name="Picture 38">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55" name="Straight Connector 54">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44428AE-B922-3D17-9C1D-0E0564F4C280}"/>
              </a:ext>
            </a:extLst>
          </p:cNvPr>
          <p:cNvSpPr txBox="1"/>
          <p:nvPr/>
        </p:nvSpPr>
        <p:spPr>
          <a:xfrm>
            <a:off x="1295402" y="2556932"/>
            <a:ext cx="6256866" cy="3318936"/>
          </a:xfrm>
          <a:prstGeom prst="rect">
            <a:avLst/>
          </a:prstGeom>
        </p:spPr>
        <p:txBody>
          <a:bodyPr vert="horz" lIns="91440" tIns="45720" rIns="91440" bIns="45720" rtlCol="0" anchor="t">
            <a:normAutofit/>
          </a:bodyPr>
          <a:lstStyle/>
          <a:p>
            <a:pPr>
              <a:spcBef>
                <a:spcPct val="20000"/>
              </a:spcBef>
              <a:spcAft>
                <a:spcPts val="600"/>
              </a:spcAft>
              <a:buClr>
                <a:schemeClr val="accent1"/>
              </a:buClr>
              <a:buSzPct val="115000"/>
              <a:buFont typeface="Arial"/>
              <a:buChar char="•"/>
            </a:pPr>
            <a:r>
              <a:rPr lang="en-US" b="1">
                <a:solidFill>
                  <a:srgbClr val="262626"/>
                </a:solidFill>
              </a:rPr>
              <a:t>Random Forest</a:t>
            </a:r>
            <a:r>
              <a:rPr lang="en-US">
                <a:solidFill>
                  <a:srgbClr val="262626"/>
                </a:solidFill>
              </a:rPr>
              <a:t>: Comparable accuracy to ANN with better interpretability</a:t>
            </a:r>
          </a:p>
          <a:p>
            <a:pPr>
              <a:spcBef>
                <a:spcPct val="20000"/>
              </a:spcBef>
              <a:spcAft>
                <a:spcPts val="600"/>
              </a:spcAft>
              <a:buClr>
                <a:schemeClr val="accent1"/>
              </a:buClr>
              <a:buSzPct val="115000"/>
              <a:buFont typeface="Arial"/>
              <a:buChar char="•"/>
            </a:pPr>
            <a:r>
              <a:rPr lang="en-US">
                <a:solidFill>
                  <a:srgbClr val="262626"/>
                </a:solidFill>
              </a:rPr>
              <a:t>Forest areas are shown in </a:t>
            </a:r>
            <a:r>
              <a:rPr lang="en-US" b="1">
                <a:solidFill>
                  <a:srgbClr val="262626"/>
                </a:solidFill>
              </a:rPr>
              <a:t>dark green</a:t>
            </a:r>
            <a:r>
              <a:rPr lang="en-US">
                <a:solidFill>
                  <a:srgbClr val="262626"/>
                </a:solidFill>
              </a:rPr>
              <a:t>.</a:t>
            </a:r>
          </a:p>
          <a:p>
            <a:pPr>
              <a:spcBef>
                <a:spcPct val="20000"/>
              </a:spcBef>
              <a:spcAft>
                <a:spcPts val="600"/>
              </a:spcAft>
              <a:buClr>
                <a:schemeClr val="accent1"/>
              </a:buClr>
              <a:buSzPct val="115000"/>
              <a:buFont typeface="Arial"/>
              <a:buChar char="•"/>
            </a:pPr>
            <a:r>
              <a:rPr lang="en-US">
                <a:solidFill>
                  <a:srgbClr val="262626"/>
                </a:solidFill>
              </a:rPr>
              <a:t>Visual comparison of classified images for each model.</a:t>
            </a:r>
          </a:p>
          <a:p>
            <a:pPr>
              <a:spcBef>
                <a:spcPct val="20000"/>
              </a:spcBef>
              <a:spcAft>
                <a:spcPts val="600"/>
              </a:spcAft>
              <a:buClr>
                <a:schemeClr val="accent1"/>
              </a:buClr>
              <a:buSzPct val="115000"/>
              <a:buFont typeface="Arial"/>
              <a:buChar char="•"/>
            </a:pPr>
            <a:r>
              <a:rPr lang="en-US" b="1">
                <a:solidFill>
                  <a:srgbClr val="262626"/>
                </a:solidFill>
              </a:rPr>
              <a:t>Random Forest</a:t>
            </a:r>
            <a:r>
              <a:rPr lang="en-US">
                <a:solidFill>
                  <a:srgbClr val="262626"/>
                </a:solidFill>
              </a:rPr>
              <a:t> and </a:t>
            </a:r>
            <a:r>
              <a:rPr lang="en-US" b="1">
                <a:solidFill>
                  <a:srgbClr val="262626"/>
                </a:solidFill>
              </a:rPr>
              <a:t>ANN</a:t>
            </a:r>
            <a:r>
              <a:rPr lang="en-US">
                <a:solidFill>
                  <a:srgbClr val="262626"/>
                </a:solidFill>
              </a:rPr>
              <a:t> accurately classify forest regions.</a:t>
            </a:r>
          </a:p>
        </p:txBody>
      </p:sp>
      <p:pic>
        <p:nvPicPr>
          <p:cNvPr id="3" name="Picture 2" descr="A map of a city&#10;&#10;Description automatically generated">
            <a:extLst>
              <a:ext uri="{FF2B5EF4-FFF2-40B4-BE49-F238E27FC236}">
                <a16:creationId xmlns:a16="http://schemas.microsoft.com/office/drawing/2014/main" id="{D21088A2-F0CD-0B5E-2CA0-0E05861A74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99728" y="2701180"/>
            <a:ext cx="2510323" cy="2852640"/>
          </a:xfrm>
          <a:prstGeom prst="rect">
            <a:avLst/>
          </a:prstGeom>
          <a:ln w="57150" cmpd="thickThin">
            <a:solidFill>
              <a:srgbClr val="7F7F7F"/>
            </a:solidFill>
            <a:miter lim="800000"/>
          </a:ln>
        </p:spPr>
      </p:pic>
    </p:spTree>
    <p:extLst>
      <p:ext uri="{BB962C8B-B14F-4D97-AF65-F5344CB8AC3E}">
        <p14:creationId xmlns:p14="http://schemas.microsoft.com/office/powerpoint/2010/main" val="26233768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CEDA-A4CD-6B20-F701-1FC8235962C4}"/>
              </a:ext>
            </a:extLst>
          </p:cNvPr>
          <p:cNvSpPr>
            <a:spLocks noGrp="1"/>
          </p:cNvSpPr>
          <p:nvPr>
            <p:ph type="title"/>
          </p:nvPr>
        </p:nvSpPr>
        <p:spPr>
          <a:xfrm>
            <a:off x="1295401" y="1253065"/>
            <a:ext cx="9601196" cy="1303867"/>
          </a:xfrm>
        </p:spPr>
        <p:txBody>
          <a:bodyPr/>
          <a:lstStyle/>
          <a:p>
            <a:r>
              <a:rPr lang="en-IN" sz="4400" dirty="0"/>
              <a:t>ANN Neural Network</a:t>
            </a:r>
            <a:endParaRPr lang="en-IN" dirty="0"/>
          </a:p>
        </p:txBody>
      </p:sp>
      <p:sp>
        <p:nvSpPr>
          <p:cNvPr id="3" name="Content Placeholder 2">
            <a:extLst>
              <a:ext uri="{FF2B5EF4-FFF2-40B4-BE49-F238E27FC236}">
                <a16:creationId xmlns:a16="http://schemas.microsoft.com/office/drawing/2014/main" id="{28D6873A-5B2E-838B-E6A5-186DC54866D8}"/>
              </a:ext>
            </a:extLst>
          </p:cNvPr>
          <p:cNvSpPr>
            <a:spLocks noGrp="1"/>
          </p:cNvSpPr>
          <p:nvPr>
            <p:ph idx="1"/>
          </p:nvPr>
        </p:nvSpPr>
        <p:spPr>
          <a:xfrm>
            <a:off x="1295401" y="2556932"/>
            <a:ext cx="9601196" cy="3625504"/>
          </a:xfrm>
        </p:spPr>
        <p:txBody>
          <a:bodyPr>
            <a:normAutofit fontScale="92500" lnSpcReduction="10000"/>
          </a:bodyPr>
          <a:lstStyle/>
          <a:p>
            <a:r>
              <a:rPr lang="en-US" dirty="0"/>
              <a:t>To classify geospatial data using artificial neural networks (ANNs) for improved land cover identification</a:t>
            </a:r>
          </a:p>
          <a:p>
            <a:r>
              <a:rPr lang="en-US" dirty="0"/>
              <a:t>70% training, 30% testing split using </a:t>
            </a:r>
            <a:r>
              <a:rPr lang="en-US" dirty="0" err="1"/>
              <a:t>train_test_split</a:t>
            </a:r>
            <a:r>
              <a:rPr lang="en-US" dirty="0"/>
              <a:t>.</a:t>
            </a:r>
          </a:p>
          <a:p>
            <a:r>
              <a:rPr lang="en-IN" dirty="0"/>
              <a:t>Multi-Layer Perceptron (MLP) Classifier</a:t>
            </a:r>
            <a:endParaRPr lang="en-US" dirty="0"/>
          </a:p>
          <a:p>
            <a:r>
              <a:rPr lang="en-IN" b="1" dirty="0"/>
              <a:t>Configuration</a:t>
            </a:r>
            <a:r>
              <a:rPr lang="en-IN" dirty="0"/>
              <a:t>:</a:t>
            </a:r>
          </a:p>
          <a:p>
            <a:r>
              <a:rPr lang="en-IN" dirty="0"/>
              <a:t>Hidden layers: (100, 50)</a:t>
            </a:r>
          </a:p>
          <a:p>
            <a:r>
              <a:rPr lang="en-IN" dirty="0"/>
              <a:t>Maximum iterations: 500</a:t>
            </a:r>
          </a:p>
          <a:p>
            <a:r>
              <a:rPr lang="en-IN" dirty="0"/>
              <a:t>Random state: 42</a:t>
            </a:r>
            <a:endParaRPr lang="en-US" dirty="0"/>
          </a:p>
          <a:p>
            <a:endParaRPr lang="en-US" dirty="0"/>
          </a:p>
          <a:p>
            <a:endParaRPr lang="en-IN" dirty="0"/>
          </a:p>
        </p:txBody>
      </p:sp>
    </p:spTree>
    <p:extLst>
      <p:ext uri="{BB962C8B-B14F-4D97-AF65-F5344CB8AC3E}">
        <p14:creationId xmlns:p14="http://schemas.microsoft.com/office/powerpoint/2010/main" val="570485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0" name="Picture 29">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1" name="Rectangle 30">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2" name="Picture 31">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3" name="Picture 32">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35" name="Straight Connector 34">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useBgFill="1">
        <p:nvSpPr>
          <p:cNvPr id="37" name="Rectangle 36">
            <a:extLst>
              <a:ext uri="{FF2B5EF4-FFF2-40B4-BE49-F238E27FC236}">
                <a16:creationId xmlns:a16="http://schemas.microsoft.com/office/drawing/2014/main" id="{7E61F402-3445-458A-9A2B-D28FD2883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38">
            <a:extLst>
              <a:ext uri="{FF2B5EF4-FFF2-40B4-BE49-F238E27FC236}">
                <a16:creationId xmlns:a16="http://schemas.microsoft.com/office/drawing/2014/main" id="{A673C096-95AE-4644-B76C-1DF1B667DC4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40" name="Picture 39">
              <a:extLst>
                <a:ext uri="{FF2B5EF4-FFF2-40B4-BE49-F238E27FC236}">
                  <a16:creationId xmlns:a16="http://schemas.microsoft.com/office/drawing/2014/main" id="{77A91835-418B-4867-87D7-1376A57F3F7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41" name="Rectangle 40">
              <a:extLst>
                <a:ext uri="{FF2B5EF4-FFF2-40B4-BE49-F238E27FC236}">
                  <a16:creationId xmlns:a16="http://schemas.microsoft.com/office/drawing/2014/main" id="{65B511A1-E0EC-49FE-8068-9DA29CD00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42" name="Picture 41">
              <a:extLst>
                <a:ext uri="{FF2B5EF4-FFF2-40B4-BE49-F238E27FC236}">
                  <a16:creationId xmlns:a16="http://schemas.microsoft.com/office/drawing/2014/main" id="{4A61BC5F-ADA4-4DBA-9C6B-E17E0B82EC54}"/>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43" name="Picture 42">
              <a:extLst>
                <a:ext uri="{FF2B5EF4-FFF2-40B4-BE49-F238E27FC236}">
                  <a16:creationId xmlns:a16="http://schemas.microsoft.com/office/drawing/2014/main" id="{1CE6F7D2-ACED-47D2-BEFD-FB26F75374A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45" name="Straight Connector 44">
            <a:extLst>
              <a:ext uri="{FF2B5EF4-FFF2-40B4-BE49-F238E27FC236}">
                <a16:creationId xmlns:a16="http://schemas.microsoft.com/office/drawing/2014/main" id="{2BE880E9-2B86-4CDB-B5B7-308745CDD1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95401" y="2400639"/>
            <a:ext cx="3660057"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0D2AF72-6752-8CE3-D8B3-4C69B497F232}"/>
              </a:ext>
            </a:extLst>
          </p:cNvPr>
          <p:cNvSpPr txBox="1"/>
          <p:nvPr/>
        </p:nvSpPr>
        <p:spPr>
          <a:xfrm>
            <a:off x="1295401" y="2493774"/>
            <a:ext cx="3660057" cy="3382094"/>
          </a:xfrm>
          <a:prstGeom prst="rect">
            <a:avLst/>
          </a:prstGeom>
        </p:spPr>
        <p:txBody>
          <a:bodyPr vert="horz" lIns="91440" tIns="45720" rIns="91440" bIns="45720" rtlCol="0" anchor="t">
            <a:normAutofit/>
          </a:bodyPr>
          <a:lstStyle/>
          <a:p>
            <a:pPr algn="ctr">
              <a:spcBef>
                <a:spcPct val="20000"/>
              </a:spcBef>
              <a:spcAft>
                <a:spcPts val="600"/>
              </a:spcAft>
              <a:buClr>
                <a:schemeClr val="accent1"/>
              </a:buClr>
              <a:buSzPct val="115000"/>
              <a:buFont typeface="Arial"/>
              <a:buChar char="•"/>
            </a:pPr>
            <a:r>
              <a:rPr lang="en-US" sz="1600" b="1">
                <a:solidFill>
                  <a:srgbClr val="262626"/>
                </a:solidFill>
              </a:rPr>
              <a:t>Model Comparison</a:t>
            </a:r>
            <a:r>
              <a:rPr lang="en-US" sz="1600">
                <a:solidFill>
                  <a:srgbClr val="262626"/>
                </a:solidFill>
              </a:rPr>
              <a:t>:</a:t>
            </a:r>
          </a:p>
          <a:p>
            <a:pPr algn="ctr">
              <a:spcBef>
                <a:spcPct val="20000"/>
              </a:spcBef>
              <a:spcAft>
                <a:spcPts val="600"/>
              </a:spcAft>
              <a:buClr>
                <a:schemeClr val="accent1"/>
              </a:buClr>
              <a:buSzPct val="115000"/>
              <a:buFont typeface="Arial"/>
              <a:buChar char="•"/>
            </a:pPr>
            <a:r>
              <a:rPr lang="en-US" sz="1600">
                <a:solidFill>
                  <a:srgbClr val="262626"/>
                </a:solidFill>
              </a:rPr>
              <a:t>Logistic Regression: Moderate accuracy, struggles with complex boundaries.</a:t>
            </a:r>
          </a:p>
          <a:p>
            <a:pPr algn="ctr">
              <a:spcBef>
                <a:spcPct val="20000"/>
              </a:spcBef>
              <a:spcAft>
                <a:spcPts val="600"/>
              </a:spcAft>
              <a:buClr>
                <a:schemeClr val="accent1"/>
              </a:buClr>
              <a:buSzPct val="115000"/>
              <a:buFont typeface="Arial"/>
              <a:buChar char="•"/>
            </a:pPr>
            <a:r>
              <a:rPr lang="en-US" sz="1600">
                <a:solidFill>
                  <a:srgbClr val="262626"/>
                </a:solidFill>
              </a:rPr>
              <a:t>ANN: High accuracy, handles non-linear patterns well.</a:t>
            </a:r>
          </a:p>
          <a:p>
            <a:pPr algn="ctr">
              <a:spcBef>
                <a:spcPct val="20000"/>
              </a:spcBef>
              <a:spcAft>
                <a:spcPts val="600"/>
              </a:spcAft>
              <a:buClr>
                <a:schemeClr val="accent1"/>
              </a:buClr>
              <a:buSzPct val="115000"/>
              <a:buFont typeface="Arial"/>
              <a:buChar char="•"/>
            </a:pPr>
            <a:r>
              <a:rPr lang="en-US" sz="1600">
                <a:solidFill>
                  <a:srgbClr val="262626"/>
                </a:solidFill>
              </a:rPr>
              <a:t>Random Forest: High accuracy, robust to noise.</a:t>
            </a:r>
          </a:p>
          <a:p>
            <a:pPr algn="ctr">
              <a:spcBef>
                <a:spcPct val="20000"/>
              </a:spcBef>
              <a:spcAft>
                <a:spcPts val="600"/>
              </a:spcAft>
              <a:buClr>
                <a:schemeClr val="accent1"/>
              </a:buClr>
              <a:buSzPct val="115000"/>
              <a:buFont typeface="Arial"/>
              <a:buChar char="•"/>
            </a:pPr>
            <a:r>
              <a:rPr lang="en-US" sz="1600">
                <a:solidFill>
                  <a:srgbClr val="262626"/>
                </a:solidFill>
              </a:rPr>
              <a:t>K-Means: Clustering without accuracy in classification context.</a:t>
            </a:r>
          </a:p>
        </p:txBody>
      </p:sp>
      <p:pic>
        <p:nvPicPr>
          <p:cNvPr id="2" name="Picture 1">
            <a:extLst>
              <a:ext uri="{FF2B5EF4-FFF2-40B4-BE49-F238E27FC236}">
                <a16:creationId xmlns:a16="http://schemas.microsoft.com/office/drawing/2014/main" id="{0DF1CF44-1D08-1168-C502-6C2EB03F7EC7}"/>
              </a:ext>
            </a:extLst>
          </p:cNvPr>
          <p:cNvPicPr>
            <a:picLocks noChangeAspect="1"/>
          </p:cNvPicPr>
          <p:nvPr/>
        </p:nvPicPr>
        <p:blipFill rotWithShape="1">
          <a:blip r:embed="rId5">
            <a:extLst>
              <a:ext uri="{28A0092B-C50C-407E-A947-70E740481C1C}">
                <a14:useLocalDpi xmlns:a14="http://schemas.microsoft.com/office/drawing/2010/main" val="0"/>
              </a:ext>
            </a:extLst>
          </a:blip>
          <a:srcRect l="2557"/>
          <a:stretch/>
        </p:blipFill>
        <p:spPr bwMode="auto">
          <a:xfrm>
            <a:off x="6047861" y="982131"/>
            <a:ext cx="4211080" cy="4893735"/>
          </a:xfrm>
          <a:prstGeom prst="rect">
            <a:avLst/>
          </a:prstGeom>
          <a:noFill/>
          <a:ln w="57150" cmpd="thickThin">
            <a:solidFill>
              <a:srgbClr val="7F7F7F"/>
            </a:solidFill>
            <a:miter lim="800000"/>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C072C54E-8E16-E126-2A63-B9C7FCC58A80}"/>
              </a:ext>
            </a:extLst>
          </p:cNvPr>
          <p:cNvSpPr txBox="1"/>
          <p:nvPr/>
        </p:nvSpPr>
        <p:spPr>
          <a:xfrm>
            <a:off x="997527" y="1481668"/>
            <a:ext cx="5339139" cy="1316123"/>
          </a:xfrm>
          <a:prstGeom prst="rect">
            <a:avLst/>
          </a:prstGeom>
        </p:spPr>
        <p:txBody>
          <a:bodyPr vert="horz" lIns="91440" tIns="45720" rIns="91440" bIns="45720" rtlCol="0" anchor="b">
            <a:normAutofit/>
          </a:bodyPr>
          <a:lstStyle/>
          <a:p>
            <a:pPr algn="ctr">
              <a:lnSpc>
                <a:spcPct val="90000"/>
              </a:lnSpc>
              <a:spcBef>
                <a:spcPct val="0"/>
              </a:spcBef>
              <a:spcAft>
                <a:spcPts val="600"/>
              </a:spcAft>
            </a:pPr>
            <a:endParaRPr lang="en-US" sz="2000" dirty="0">
              <a:ln w="3175" cmpd="sng">
                <a:noFill/>
              </a:ln>
              <a:solidFill>
                <a:srgbClr val="262626"/>
              </a:solidFill>
              <a:latin typeface="+mj-lt"/>
              <a:ea typeface="+mj-ea"/>
              <a:cs typeface="+mj-cs"/>
            </a:endParaRPr>
          </a:p>
        </p:txBody>
      </p:sp>
    </p:spTree>
    <p:extLst>
      <p:ext uri="{BB962C8B-B14F-4D97-AF65-F5344CB8AC3E}">
        <p14:creationId xmlns:p14="http://schemas.microsoft.com/office/powerpoint/2010/main" val="3475025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0CAF0-7514-C5D7-B1A8-AD36A188C7D6}"/>
              </a:ext>
            </a:extLst>
          </p:cNvPr>
          <p:cNvSpPr>
            <a:spLocks noGrp="1"/>
          </p:cNvSpPr>
          <p:nvPr>
            <p:ph type="title"/>
          </p:nvPr>
        </p:nvSpPr>
        <p:spPr>
          <a:xfrm>
            <a:off x="1295401" y="1249677"/>
            <a:ext cx="9601196" cy="1303867"/>
          </a:xfrm>
        </p:spPr>
        <p:txBody>
          <a:bodyPr/>
          <a:lstStyle/>
          <a:p>
            <a:r>
              <a:rPr lang="en-IN" sz="4400" dirty="0"/>
              <a:t>Logistical Regression</a:t>
            </a:r>
            <a:endParaRPr lang="en-IN" dirty="0"/>
          </a:p>
        </p:txBody>
      </p:sp>
      <p:sp>
        <p:nvSpPr>
          <p:cNvPr id="3" name="Content Placeholder 2">
            <a:extLst>
              <a:ext uri="{FF2B5EF4-FFF2-40B4-BE49-F238E27FC236}">
                <a16:creationId xmlns:a16="http://schemas.microsoft.com/office/drawing/2014/main" id="{5C8D862D-389E-CB70-6729-259CFD05AE02}"/>
              </a:ext>
            </a:extLst>
          </p:cNvPr>
          <p:cNvSpPr>
            <a:spLocks noGrp="1"/>
          </p:cNvSpPr>
          <p:nvPr>
            <p:ph idx="1"/>
          </p:nvPr>
        </p:nvSpPr>
        <p:spPr/>
        <p:txBody>
          <a:bodyPr/>
          <a:lstStyle/>
          <a:p>
            <a:r>
              <a:rPr lang="en-IN" dirty="0"/>
              <a:t>1. Load and preprocess raster data.</a:t>
            </a:r>
          </a:p>
          <a:p>
            <a:r>
              <a:rPr lang="en-IN" dirty="0"/>
              <a:t>2. Assign labels to each land cover type.</a:t>
            </a:r>
          </a:p>
          <a:p>
            <a:r>
              <a:rPr lang="en-IN" dirty="0"/>
              <a:t>3. Normalize the data using </a:t>
            </a:r>
            <a:r>
              <a:rPr lang="en-IN" dirty="0" err="1"/>
              <a:t>StandardScaler</a:t>
            </a:r>
            <a:r>
              <a:rPr lang="en-IN" dirty="0"/>
              <a:t>.</a:t>
            </a:r>
          </a:p>
          <a:p>
            <a:r>
              <a:rPr lang="en-IN" dirty="0"/>
              <a:t>4. Train Logistic Regression model on training data.</a:t>
            </a:r>
          </a:p>
          <a:p>
            <a:r>
              <a:rPr lang="en-IN" dirty="0"/>
              <a:t>5. Evaluate model performance with classification report and accuracy score.</a:t>
            </a:r>
          </a:p>
          <a:p>
            <a:r>
              <a:rPr lang="en-IN" dirty="0"/>
              <a:t>6. Classify entire raster </a:t>
            </a:r>
            <a:r>
              <a:rPr lang="en-IN" dirty="0" err="1"/>
              <a:t>bandstack</a:t>
            </a:r>
            <a:r>
              <a:rPr lang="en-IN" dirty="0"/>
              <a:t> using the trained model.</a:t>
            </a:r>
          </a:p>
          <a:p>
            <a:endParaRPr lang="en-IN" dirty="0"/>
          </a:p>
        </p:txBody>
      </p:sp>
    </p:spTree>
    <p:extLst>
      <p:ext uri="{BB962C8B-B14F-4D97-AF65-F5344CB8AC3E}">
        <p14:creationId xmlns:p14="http://schemas.microsoft.com/office/powerpoint/2010/main" val="3631253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21" name="Picture 20">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2" name="Rectangle 21">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23" name="Picture 22">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4" name="Picture 23">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26" name="Straight Connector 25">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65756027-7E8A-B2FC-32F8-AC61A2672E61}"/>
              </a:ext>
            </a:extLst>
          </p:cNvPr>
          <p:cNvSpPr txBox="1"/>
          <p:nvPr/>
        </p:nvSpPr>
        <p:spPr>
          <a:xfrm>
            <a:off x="1295402" y="2556932"/>
            <a:ext cx="6256866" cy="3318936"/>
          </a:xfrm>
          <a:prstGeom prst="rect">
            <a:avLst/>
          </a:prstGeom>
        </p:spPr>
        <p:txBody>
          <a:bodyPr vert="horz" lIns="91440" tIns="45720" rIns="91440" bIns="45720" rtlCol="0" anchor="t">
            <a:normAutofit/>
          </a:bodyPr>
          <a:lstStyle/>
          <a:p>
            <a:pPr>
              <a:spcBef>
                <a:spcPct val="20000"/>
              </a:spcBef>
              <a:spcAft>
                <a:spcPts val="600"/>
              </a:spcAft>
              <a:buClr>
                <a:schemeClr val="accent1"/>
              </a:buClr>
              <a:buSzPct val="115000"/>
              <a:buFont typeface="Arial"/>
              <a:buChar char="•"/>
            </a:pPr>
            <a:r>
              <a:rPr lang="en-US">
                <a:solidFill>
                  <a:srgbClr val="262626"/>
                </a:solidFill>
              </a:rPr>
              <a:t>- The model is trained on a dataset with 70% training and 30% testing split.</a:t>
            </a:r>
          </a:p>
          <a:p>
            <a:pPr>
              <a:spcBef>
                <a:spcPct val="20000"/>
              </a:spcBef>
              <a:spcAft>
                <a:spcPts val="600"/>
              </a:spcAft>
              <a:buClr>
                <a:schemeClr val="accent1"/>
              </a:buClr>
              <a:buSzPct val="115000"/>
              <a:buFont typeface="Arial"/>
              <a:buChar char="•"/>
            </a:pPr>
            <a:r>
              <a:rPr lang="en-US">
                <a:solidFill>
                  <a:srgbClr val="262626"/>
                </a:solidFill>
              </a:rPr>
              <a:t>- Evaluation metrics include accuracy and a classification report.</a:t>
            </a:r>
          </a:p>
          <a:p>
            <a:pPr marL="285750" indent="-285750">
              <a:spcBef>
                <a:spcPct val="20000"/>
              </a:spcBef>
              <a:spcAft>
                <a:spcPts val="600"/>
              </a:spcAft>
              <a:buClr>
                <a:schemeClr val="accent1"/>
              </a:buClr>
              <a:buSzPct val="115000"/>
              <a:buFont typeface="Arial"/>
              <a:buChar char="•"/>
            </a:pPr>
            <a:r>
              <a:rPr lang="en-US">
                <a:solidFill>
                  <a:srgbClr val="262626"/>
                </a:solidFill>
              </a:rPr>
              <a:t>The accuracy score provides an overall measure of performance.</a:t>
            </a:r>
          </a:p>
          <a:p>
            <a:pPr marL="285750" indent="-285750">
              <a:spcBef>
                <a:spcPct val="20000"/>
              </a:spcBef>
              <a:spcAft>
                <a:spcPts val="600"/>
              </a:spcAft>
              <a:buClr>
                <a:schemeClr val="accent1"/>
              </a:buClr>
              <a:buSzPct val="115000"/>
              <a:buFont typeface="Arial"/>
              <a:buChar char="•"/>
            </a:pPr>
            <a:endParaRPr lang="en-US">
              <a:solidFill>
                <a:srgbClr val="262626"/>
              </a:solidFill>
            </a:endParaRPr>
          </a:p>
          <a:p>
            <a:pPr>
              <a:spcBef>
                <a:spcPct val="20000"/>
              </a:spcBef>
              <a:spcAft>
                <a:spcPts val="600"/>
              </a:spcAft>
              <a:buClr>
                <a:schemeClr val="accent1"/>
              </a:buClr>
              <a:buSzPct val="115000"/>
              <a:buFont typeface="Arial"/>
              <a:buChar char="•"/>
            </a:pPr>
            <a:r>
              <a:rPr lang="en-US">
                <a:solidFill>
                  <a:srgbClr val="262626"/>
                </a:solidFill>
              </a:rPr>
              <a:t>Logistic Regression is effective for raster data classification, providing reasonable accuracy and interpretability.</a:t>
            </a:r>
          </a:p>
          <a:p>
            <a:pPr>
              <a:spcBef>
                <a:spcPct val="20000"/>
              </a:spcBef>
              <a:spcAft>
                <a:spcPts val="600"/>
              </a:spcAft>
              <a:buClr>
                <a:schemeClr val="accent1"/>
              </a:buClr>
              <a:buSzPct val="115000"/>
              <a:buFont typeface="Arial"/>
              <a:buChar char="•"/>
            </a:pPr>
            <a:r>
              <a:rPr lang="en-US">
                <a:solidFill>
                  <a:srgbClr val="262626"/>
                </a:solidFill>
              </a:rPr>
              <a:t>Future improvements include incorporating additional features and optimizing hyperparameters.</a:t>
            </a:r>
          </a:p>
          <a:p>
            <a:pPr marL="285750" indent="-285750">
              <a:spcBef>
                <a:spcPct val="20000"/>
              </a:spcBef>
              <a:spcAft>
                <a:spcPts val="600"/>
              </a:spcAft>
              <a:buClr>
                <a:schemeClr val="accent1"/>
              </a:buClr>
              <a:buSzPct val="115000"/>
              <a:buFont typeface="Arial"/>
              <a:buChar char="•"/>
            </a:pPr>
            <a:endParaRPr lang="en-US">
              <a:solidFill>
                <a:srgbClr val="262626"/>
              </a:solidFill>
            </a:endParaRPr>
          </a:p>
          <a:p>
            <a:pPr marL="285750" indent="-285750">
              <a:spcBef>
                <a:spcPct val="20000"/>
              </a:spcBef>
              <a:spcAft>
                <a:spcPts val="600"/>
              </a:spcAft>
              <a:buClr>
                <a:schemeClr val="accent1"/>
              </a:buClr>
              <a:buSzPct val="115000"/>
              <a:buFont typeface="Arial"/>
              <a:buChar char="•"/>
            </a:pPr>
            <a:endParaRPr lang="en-US">
              <a:solidFill>
                <a:srgbClr val="262626"/>
              </a:solidFill>
            </a:endParaRPr>
          </a:p>
        </p:txBody>
      </p:sp>
      <p:pic>
        <p:nvPicPr>
          <p:cNvPr id="3" name="Picture 2" descr="A map of a city&#10;&#10;Description automatically generated">
            <a:extLst>
              <a:ext uri="{FF2B5EF4-FFF2-40B4-BE49-F238E27FC236}">
                <a16:creationId xmlns:a16="http://schemas.microsoft.com/office/drawing/2014/main" id="{6E44AC26-E193-6DDF-4246-4D8DD9C2D7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bwMode="auto">
          <a:xfrm>
            <a:off x="8189031" y="2701180"/>
            <a:ext cx="2531717" cy="2852640"/>
          </a:xfrm>
          <a:prstGeom prst="rect">
            <a:avLst/>
          </a:prstGeom>
          <a:noFill/>
          <a:ln w="57150" cmpd="thickThin">
            <a:solidFill>
              <a:srgbClr val="7F7F7F"/>
            </a:solidFill>
            <a:miter lim="800000"/>
          </a:ln>
        </p:spPr>
      </p:pic>
    </p:spTree>
    <p:extLst>
      <p:ext uri="{BB962C8B-B14F-4D97-AF65-F5344CB8AC3E}">
        <p14:creationId xmlns:p14="http://schemas.microsoft.com/office/powerpoint/2010/main" val="2690335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778E8-0857-9480-CF6C-2789F797BD15}"/>
              </a:ext>
            </a:extLst>
          </p:cNvPr>
          <p:cNvSpPr>
            <a:spLocks noGrp="1"/>
          </p:cNvSpPr>
          <p:nvPr>
            <p:ph type="title"/>
          </p:nvPr>
        </p:nvSpPr>
        <p:spPr>
          <a:xfrm>
            <a:off x="1132842" y="1767840"/>
            <a:ext cx="9601196" cy="1117599"/>
          </a:xfrm>
        </p:spPr>
        <p:txBody>
          <a:bodyPr>
            <a:normAutofit fontScale="90000"/>
          </a:bodyPr>
          <a:lstStyle/>
          <a:p>
            <a:r>
              <a:rPr lang="en-IN" sz="4400" dirty="0"/>
              <a:t>K-Means</a:t>
            </a:r>
            <a:br>
              <a:rPr lang="en-IN" sz="4400" dirty="0"/>
            </a:br>
            <a:endParaRPr lang="en-IN" dirty="0"/>
          </a:p>
        </p:txBody>
      </p:sp>
      <p:sp>
        <p:nvSpPr>
          <p:cNvPr id="3" name="Content Placeholder 2">
            <a:extLst>
              <a:ext uri="{FF2B5EF4-FFF2-40B4-BE49-F238E27FC236}">
                <a16:creationId xmlns:a16="http://schemas.microsoft.com/office/drawing/2014/main" id="{0B1B59DB-0EB9-64BB-DBD5-9D3970EC570B}"/>
              </a:ext>
            </a:extLst>
          </p:cNvPr>
          <p:cNvSpPr>
            <a:spLocks noGrp="1"/>
          </p:cNvSpPr>
          <p:nvPr>
            <p:ph idx="1"/>
          </p:nvPr>
        </p:nvSpPr>
        <p:spPr/>
        <p:txBody>
          <a:bodyPr>
            <a:normAutofit fontScale="92500"/>
          </a:bodyPr>
          <a:lstStyle/>
          <a:p>
            <a:r>
              <a:rPr lang="en-US" dirty="0"/>
              <a:t>This project involves clustering raster pixel data using </a:t>
            </a:r>
            <a:r>
              <a:rPr lang="en-US" dirty="0" err="1"/>
              <a:t>KMeans</a:t>
            </a:r>
            <a:r>
              <a:rPr lang="en-US" dirty="0"/>
              <a:t> and evaluating cluster quality with silhouette scores.</a:t>
            </a:r>
          </a:p>
          <a:p>
            <a:r>
              <a:rPr lang="en-US" dirty="0"/>
              <a:t>The dataset includes raster data for forest, urban, water, and others categories.</a:t>
            </a:r>
          </a:p>
          <a:p>
            <a:r>
              <a:rPr lang="en-US" dirty="0"/>
              <a:t>Forest: Raster data for forest regions</a:t>
            </a:r>
          </a:p>
          <a:p>
            <a:r>
              <a:rPr lang="en-US" dirty="0"/>
              <a:t>- Urban: Raster data for urban areas</a:t>
            </a:r>
          </a:p>
          <a:p>
            <a:r>
              <a:rPr lang="en-US" dirty="0"/>
              <a:t>- Water: Raster data for water bodies</a:t>
            </a:r>
          </a:p>
          <a:p>
            <a:r>
              <a:rPr lang="en-US" dirty="0"/>
              <a:t>- Others: Miscellaneous regions</a:t>
            </a:r>
          </a:p>
          <a:p>
            <a:endParaRPr lang="en-IN" dirty="0"/>
          </a:p>
        </p:txBody>
      </p:sp>
    </p:spTree>
    <p:extLst>
      <p:ext uri="{BB962C8B-B14F-4D97-AF65-F5344CB8AC3E}">
        <p14:creationId xmlns:p14="http://schemas.microsoft.com/office/powerpoint/2010/main" val="3223896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stretch/>
        </a:blip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3F6D81C7-B083-478E-82FE-089A8CB72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736" y="0"/>
            <a:ext cx="12229962" cy="6856214"/>
            <a:chOff x="-15736" y="0"/>
            <a:chExt cx="12229962" cy="6856214"/>
          </a:xfrm>
        </p:grpSpPr>
        <p:pic>
          <p:nvPicPr>
            <p:cNvPr id="31" name="Picture 30">
              <a:extLst>
                <a:ext uri="{FF2B5EF4-FFF2-40B4-BE49-F238E27FC236}">
                  <a16:creationId xmlns:a16="http://schemas.microsoft.com/office/drawing/2014/main" id="{8398EDA2-4889-433D-AC01-5214D79764ED}"/>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2" name="Rectangle 31">
              <a:extLst>
                <a:ext uri="{FF2B5EF4-FFF2-40B4-BE49-F238E27FC236}">
                  <a16:creationId xmlns:a16="http://schemas.microsoft.com/office/drawing/2014/main" id="{0099D46A-AF52-46FD-938B-D31189460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33" name="Picture 32">
              <a:extLst>
                <a:ext uri="{FF2B5EF4-FFF2-40B4-BE49-F238E27FC236}">
                  <a16:creationId xmlns:a16="http://schemas.microsoft.com/office/drawing/2014/main" id="{C933E919-C473-4F0E-9DBC-CC65FC9E926E}"/>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34" name="Picture 33">
              <a:extLst>
                <a:ext uri="{FF2B5EF4-FFF2-40B4-BE49-F238E27FC236}">
                  <a16:creationId xmlns:a16="http://schemas.microsoft.com/office/drawing/2014/main" id="{FBBF3BDD-5C99-4FDC-BBCB-E711359D93F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cxnSp>
        <p:nvCxnSpPr>
          <p:cNvPr id="36" name="Straight Connector 35">
            <a:extLst>
              <a:ext uri="{FF2B5EF4-FFF2-40B4-BE49-F238E27FC236}">
                <a16:creationId xmlns:a16="http://schemas.microsoft.com/office/drawing/2014/main" id="{F06B54F2-CD11-4359-A7D6-DA7C76C091A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D9E17FA-E5CF-EB46-CBB0-A8E371A9E335}"/>
              </a:ext>
            </a:extLst>
          </p:cNvPr>
          <p:cNvSpPr txBox="1"/>
          <p:nvPr/>
        </p:nvSpPr>
        <p:spPr>
          <a:xfrm>
            <a:off x="1295402" y="2556932"/>
            <a:ext cx="6256866" cy="3318936"/>
          </a:xfrm>
          <a:prstGeom prst="rect">
            <a:avLst/>
          </a:prstGeom>
        </p:spPr>
        <p:txBody>
          <a:bodyPr vert="horz" lIns="91440" tIns="45720" rIns="91440" bIns="45720" rtlCol="0" anchor="t">
            <a:normAutofit/>
          </a:bodyPr>
          <a:lstStyle/>
          <a:p>
            <a:pPr>
              <a:spcBef>
                <a:spcPct val="20000"/>
              </a:spcBef>
              <a:spcAft>
                <a:spcPts val="600"/>
              </a:spcAft>
              <a:buClr>
                <a:schemeClr val="accent1"/>
              </a:buClr>
              <a:buSzPct val="115000"/>
              <a:buFont typeface="Arial"/>
              <a:buChar char="•"/>
            </a:pPr>
            <a:r>
              <a:rPr lang="en-US">
                <a:solidFill>
                  <a:srgbClr val="262626"/>
                </a:solidFill>
              </a:rPr>
              <a:t>1. Read raster files and extract non-zero pixel coordinates.</a:t>
            </a:r>
          </a:p>
          <a:p>
            <a:pPr>
              <a:spcBef>
                <a:spcPct val="20000"/>
              </a:spcBef>
              <a:spcAft>
                <a:spcPts val="600"/>
              </a:spcAft>
              <a:buClr>
                <a:schemeClr val="accent1"/>
              </a:buClr>
              <a:buSzPct val="115000"/>
              <a:buFont typeface="Arial"/>
              <a:buChar char="•"/>
            </a:pPr>
            <a:r>
              <a:rPr lang="en-US">
                <a:solidFill>
                  <a:srgbClr val="262626"/>
                </a:solidFill>
              </a:rPr>
              <a:t>2. Apply KMeans clustering with 2 clusters.</a:t>
            </a:r>
          </a:p>
          <a:p>
            <a:pPr>
              <a:spcBef>
                <a:spcPct val="20000"/>
              </a:spcBef>
              <a:spcAft>
                <a:spcPts val="600"/>
              </a:spcAft>
              <a:buClr>
                <a:schemeClr val="accent1"/>
              </a:buClr>
              <a:buSzPct val="115000"/>
              <a:buFont typeface="Arial"/>
              <a:buChar char="•"/>
            </a:pPr>
            <a:r>
              <a:rPr lang="en-US">
                <a:solidFill>
                  <a:srgbClr val="262626"/>
                </a:solidFill>
              </a:rPr>
              <a:t>3. Calculate silhouette scores to evaluate clustering quality.</a:t>
            </a:r>
          </a:p>
          <a:p>
            <a:pPr>
              <a:spcBef>
                <a:spcPct val="20000"/>
              </a:spcBef>
              <a:spcAft>
                <a:spcPts val="600"/>
              </a:spcAft>
              <a:buClr>
                <a:schemeClr val="accent1"/>
              </a:buClr>
              <a:buSzPct val="115000"/>
              <a:buFont typeface="Arial"/>
              <a:buChar char="•"/>
            </a:pPr>
            <a:r>
              <a:rPr lang="en-US">
                <a:solidFill>
                  <a:srgbClr val="262626"/>
                </a:solidFill>
              </a:rPr>
              <a:t>4. Visualize clustered pixels using scatter plots.</a:t>
            </a:r>
          </a:p>
          <a:p>
            <a:pPr>
              <a:spcBef>
                <a:spcPct val="20000"/>
              </a:spcBef>
              <a:spcAft>
                <a:spcPts val="600"/>
              </a:spcAft>
              <a:buClr>
                <a:schemeClr val="accent1"/>
              </a:buClr>
              <a:buSzPct val="115000"/>
              <a:buFont typeface="Arial"/>
              <a:buChar char="•"/>
            </a:pPr>
            <a:r>
              <a:rPr lang="en-US">
                <a:solidFill>
                  <a:srgbClr val="262626"/>
                </a:solidFill>
              </a:rPr>
              <a:t>The project successfully clusters raster pixel data and calculates silhouette scores to evaluate clustering quality.</a:t>
            </a:r>
          </a:p>
          <a:p>
            <a:pPr>
              <a:spcBef>
                <a:spcPct val="20000"/>
              </a:spcBef>
              <a:spcAft>
                <a:spcPts val="600"/>
              </a:spcAft>
              <a:buClr>
                <a:schemeClr val="accent1"/>
              </a:buClr>
              <a:buSzPct val="115000"/>
              <a:buFont typeface="Arial"/>
              <a:buChar char="•"/>
            </a:pPr>
            <a:r>
              <a:rPr lang="en-US">
                <a:solidFill>
                  <a:srgbClr val="262626"/>
                </a:solidFill>
              </a:rPr>
              <a:t>Next steps include improving clustering with additional features or categories.</a:t>
            </a:r>
          </a:p>
          <a:p>
            <a:pPr>
              <a:spcBef>
                <a:spcPct val="20000"/>
              </a:spcBef>
              <a:spcAft>
                <a:spcPts val="600"/>
              </a:spcAft>
              <a:buClr>
                <a:schemeClr val="accent1"/>
              </a:buClr>
              <a:buSzPct val="115000"/>
              <a:buFont typeface="Arial"/>
              <a:buChar char="•"/>
            </a:pPr>
            <a:endParaRPr lang="en-US">
              <a:solidFill>
                <a:srgbClr val="262626"/>
              </a:solidFill>
            </a:endParaRPr>
          </a:p>
          <a:p>
            <a:pPr>
              <a:spcBef>
                <a:spcPct val="20000"/>
              </a:spcBef>
              <a:spcAft>
                <a:spcPts val="600"/>
              </a:spcAft>
              <a:buClr>
                <a:schemeClr val="accent1"/>
              </a:buClr>
              <a:buSzPct val="115000"/>
              <a:buFont typeface="Arial"/>
              <a:buChar char="•"/>
            </a:pPr>
            <a:endParaRPr lang="en-US">
              <a:solidFill>
                <a:srgbClr val="262626"/>
              </a:solidFill>
            </a:endParaRPr>
          </a:p>
        </p:txBody>
      </p:sp>
      <p:pic>
        <p:nvPicPr>
          <p:cNvPr id="4" name="Picture 3" descr="A graph showing different colored dots&#10;&#10;AI-generated content may be incorrect.">
            <a:extLst>
              <a:ext uri="{FF2B5EF4-FFF2-40B4-BE49-F238E27FC236}">
                <a16:creationId xmlns:a16="http://schemas.microsoft.com/office/drawing/2014/main" id="{456555FB-1C69-29F8-C49E-464F1DC1F9AA}"/>
              </a:ext>
            </a:extLst>
          </p:cNvPr>
          <p:cNvPicPr>
            <a:picLocks noChangeAspect="1"/>
          </p:cNvPicPr>
          <p:nvPr/>
        </p:nvPicPr>
        <p:blipFill>
          <a:blip r:embed="rId6"/>
          <a:srcRect r="-1" b="17907"/>
          <a:stretch/>
        </p:blipFill>
        <p:spPr>
          <a:xfrm>
            <a:off x="8085026" y="2556932"/>
            <a:ext cx="3137156" cy="3168456"/>
          </a:xfrm>
          <a:prstGeom prst="rect">
            <a:avLst/>
          </a:prstGeom>
          <a:ln w="57150" cmpd="thickThin">
            <a:solidFill>
              <a:srgbClr val="7F7F7F"/>
            </a:solidFill>
            <a:miter lim="800000"/>
          </a:ln>
        </p:spPr>
      </p:pic>
    </p:spTree>
    <p:extLst>
      <p:ext uri="{BB962C8B-B14F-4D97-AF65-F5344CB8AC3E}">
        <p14:creationId xmlns:p14="http://schemas.microsoft.com/office/powerpoint/2010/main" val="21063060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EB4B82D-A989-40D8-A457-F1D9C0345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24">
            <a:extLst>
              <a:ext uri="{FF2B5EF4-FFF2-40B4-BE49-F238E27FC236}">
                <a16:creationId xmlns:a16="http://schemas.microsoft.com/office/drawing/2014/main" id="{14E99EC7-4ECA-46FD-A4EE-C28A8AC6737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15736" y="28937"/>
            <a:ext cx="12188825" cy="6856214"/>
          </a:xfrm>
          <a:prstGeom prst="rect">
            <a:avLst/>
          </a:prstGeom>
        </p:spPr>
      </p:pic>
      <p:grpSp>
        <p:nvGrpSpPr>
          <p:cNvPr id="27" name="Group 26">
            <a:extLst>
              <a:ext uri="{FF2B5EF4-FFF2-40B4-BE49-F238E27FC236}">
                <a16:creationId xmlns:a16="http://schemas.microsoft.com/office/drawing/2014/main" id="{67034349-EB95-4DEC-941A-A5BEB23CCC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8956"/>
            <a:ext cx="12234672" cy="658368"/>
            <a:chOff x="-18288" y="3128956"/>
            <a:chExt cx="12234672" cy="658368"/>
          </a:xfrm>
        </p:grpSpPr>
        <p:sp useBgFill="1">
          <p:nvSpPr>
            <p:cNvPr id="28" name="Rounded Rectangle 21">
              <a:extLst>
                <a:ext uri="{FF2B5EF4-FFF2-40B4-BE49-F238E27FC236}">
                  <a16:creationId xmlns:a16="http://schemas.microsoft.com/office/drawing/2014/main" id="{4ED14EF1-39B3-426A-842A-CEA137A65D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9" name="Picture 28">
              <a:extLst>
                <a:ext uri="{FF2B5EF4-FFF2-40B4-BE49-F238E27FC236}">
                  <a16:creationId xmlns:a16="http://schemas.microsoft.com/office/drawing/2014/main" id="{20BA46E3-54EA-491A-BDC2-C9A945118E5A}"/>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30" name="Rounded Rectangle 27">
              <a:extLst>
                <a:ext uri="{FF2B5EF4-FFF2-40B4-BE49-F238E27FC236}">
                  <a16:creationId xmlns:a16="http://schemas.microsoft.com/office/drawing/2014/main" id="{BC6C1592-02CC-4EA4-9A0E-7BE7C1ED8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ln w="9525">
              <a:noFill/>
            </a:ln>
            <a:effectLst>
              <a:innerShdw blurRad="114300">
                <a:srgbClr val="171717">
                  <a:alpha val="82745"/>
                </a:srgb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31" name="Picture 30">
              <a:extLst>
                <a:ext uri="{FF2B5EF4-FFF2-40B4-BE49-F238E27FC236}">
                  <a16:creationId xmlns:a16="http://schemas.microsoft.com/office/drawing/2014/main" id="{367E44A5-FAF8-4D81-90C9-CFD68F1A1312}"/>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graphicFrame>
        <p:nvGraphicFramePr>
          <p:cNvPr id="2" name="Table 1">
            <a:extLst>
              <a:ext uri="{FF2B5EF4-FFF2-40B4-BE49-F238E27FC236}">
                <a16:creationId xmlns:a16="http://schemas.microsoft.com/office/drawing/2014/main" id="{49CAFC8D-FC6B-E45B-4FCA-510C34445E3F}"/>
              </a:ext>
            </a:extLst>
          </p:cNvPr>
          <p:cNvGraphicFramePr>
            <a:graphicFrameLocks noGrp="1"/>
          </p:cNvGraphicFramePr>
          <p:nvPr>
            <p:extLst>
              <p:ext uri="{D42A27DB-BD31-4B8C-83A1-F6EECF244321}">
                <p14:modId xmlns:p14="http://schemas.microsoft.com/office/powerpoint/2010/main" val="3132831127"/>
              </p:ext>
            </p:extLst>
          </p:nvPr>
        </p:nvGraphicFramePr>
        <p:xfrm>
          <a:off x="4600153" y="574614"/>
          <a:ext cx="6813438" cy="5544832"/>
        </p:xfrm>
        <a:graphic>
          <a:graphicData uri="http://schemas.openxmlformats.org/drawingml/2006/table">
            <a:tbl>
              <a:tblPr firstRow="1" firstCol="1" bandRow="1">
                <a:solidFill>
                  <a:srgbClr val="404040"/>
                </a:solidFill>
                <a:tableStyleId>{5C22544A-7EE6-4342-B048-85BDC9FD1C3A}</a:tableStyleId>
              </a:tblPr>
              <a:tblGrid>
                <a:gridCol w="541566">
                  <a:extLst>
                    <a:ext uri="{9D8B030D-6E8A-4147-A177-3AD203B41FA5}">
                      <a16:colId xmlns:a16="http://schemas.microsoft.com/office/drawing/2014/main" val="446408340"/>
                    </a:ext>
                  </a:extLst>
                </a:gridCol>
                <a:gridCol w="878923">
                  <a:extLst>
                    <a:ext uri="{9D8B030D-6E8A-4147-A177-3AD203B41FA5}">
                      <a16:colId xmlns:a16="http://schemas.microsoft.com/office/drawing/2014/main" val="2726788519"/>
                    </a:ext>
                  </a:extLst>
                </a:gridCol>
                <a:gridCol w="766769">
                  <a:extLst>
                    <a:ext uri="{9D8B030D-6E8A-4147-A177-3AD203B41FA5}">
                      <a16:colId xmlns:a16="http://schemas.microsoft.com/office/drawing/2014/main" val="3748876644"/>
                    </a:ext>
                  </a:extLst>
                </a:gridCol>
                <a:gridCol w="778500">
                  <a:extLst>
                    <a:ext uri="{9D8B030D-6E8A-4147-A177-3AD203B41FA5}">
                      <a16:colId xmlns:a16="http://schemas.microsoft.com/office/drawing/2014/main" val="523611491"/>
                    </a:ext>
                  </a:extLst>
                </a:gridCol>
                <a:gridCol w="744958">
                  <a:extLst>
                    <a:ext uri="{9D8B030D-6E8A-4147-A177-3AD203B41FA5}">
                      <a16:colId xmlns:a16="http://schemas.microsoft.com/office/drawing/2014/main" val="1214318358"/>
                    </a:ext>
                  </a:extLst>
                </a:gridCol>
                <a:gridCol w="744958">
                  <a:extLst>
                    <a:ext uri="{9D8B030D-6E8A-4147-A177-3AD203B41FA5}">
                      <a16:colId xmlns:a16="http://schemas.microsoft.com/office/drawing/2014/main" val="1818866775"/>
                    </a:ext>
                  </a:extLst>
                </a:gridCol>
                <a:gridCol w="784778">
                  <a:extLst>
                    <a:ext uri="{9D8B030D-6E8A-4147-A177-3AD203B41FA5}">
                      <a16:colId xmlns:a16="http://schemas.microsoft.com/office/drawing/2014/main" val="1068063119"/>
                    </a:ext>
                  </a:extLst>
                </a:gridCol>
                <a:gridCol w="784778">
                  <a:extLst>
                    <a:ext uri="{9D8B030D-6E8A-4147-A177-3AD203B41FA5}">
                      <a16:colId xmlns:a16="http://schemas.microsoft.com/office/drawing/2014/main" val="627537804"/>
                    </a:ext>
                  </a:extLst>
                </a:gridCol>
                <a:gridCol w="788208">
                  <a:extLst>
                    <a:ext uri="{9D8B030D-6E8A-4147-A177-3AD203B41FA5}">
                      <a16:colId xmlns:a16="http://schemas.microsoft.com/office/drawing/2014/main" val="3459333257"/>
                    </a:ext>
                  </a:extLst>
                </a:gridCol>
              </a:tblGrid>
              <a:tr h="691574">
                <a:tc>
                  <a:txBody>
                    <a:bodyPr/>
                    <a:lstStyle/>
                    <a:p>
                      <a:pPr algn="ctr">
                        <a:lnSpc>
                          <a:spcPct val="115000"/>
                        </a:lnSpc>
                        <a:spcAft>
                          <a:spcPts val="800"/>
                        </a:spcAft>
                      </a:pPr>
                      <a:r>
                        <a:rPr lang="en-US" sz="1400" b="0" cap="none" spc="0">
                          <a:solidFill>
                            <a:schemeClr val="bg1"/>
                          </a:solidFill>
                          <a:effectLst/>
                        </a:rPr>
                        <a:t>Year</a:t>
                      </a:r>
                      <a:endParaRPr lang="en-IN" sz="1400" b="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tc>
                  <a:txBody>
                    <a:bodyPr/>
                    <a:lstStyle/>
                    <a:p>
                      <a:pPr algn="ctr">
                        <a:lnSpc>
                          <a:spcPct val="115000"/>
                        </a:lnSpc>
                        <a:spcAft>
                          <a:spcPts val="800"/>
                        </a:spcAft>
                      </a:pPr>
                      <a:r>
                        <a:rPr lang="en-US" sz="1400" b="0" cap="none" spc="0">
                          <a:solidFill>
                            <a:schemeClr val="bg1"/>
                          </a:solidFill>
                          <a:effectLst/>
                        </a:rPr>
                        <a:t>Model</a:t>
                      </a:r>
                      <a:endParaRPr lang="en-IN" sz="1400" b="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tc>
                  <a:txBody>
                    <a:bodyPr/>
                    <a:lstStyle/>
                    <a:p>
                      <a:pPr algn="ctr">
                        <a:lnSpc>
                          <a:spcPct val="115000"/>
                        </a:lnSpc>
                        <a:spcAft>
                          <a:spcPts val="800"/>
                        </a:spcAft>
                      </a:pPr>
                      <a:r>
                        <a:rPr lang="en-US" sz="1400" b="0" cap="none" spc="0">
                          <a:solidFill>
                            <a:schemeClr val="bg1"/>
                          </a:solidFill>
                          <a:effectLst/>
                        </a:rPr>
                        <a:t>Accuracy</a:t>
                      </a:r>
                      <a:endParaRPr lang="en-IN" sz="1400" b="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tc>
                  <a:txBody>
                    <a:bodyPr/>
                    <a:lstStyle/>
                    <a:p>
                      <a:pPr algn="ctr">
                        <a:lnSpc>
                          <a:spcPct val="115000"/>
                        </a:lnSpc>
                        <a:spcAft>
                          <a:spcPts val="800"/>
                        </a:spcAft>
                      </a:pPr>
                      <a:r>
                        <a:rPr lang="en-US" sz="1400" b="0" cap="none" spc="0">
                          <a:solidFill>
                            <a:schemeClr val="bg1"/>
                          </a:solidFill>
                          <a:effectLst/>
                        </a:rPr>
                        <a:t>Precision (Macro)</a:t>
                      </a:r>
                      <a:endParaRPr lang="en-IN" sz="1400" b="0"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tc>
                  <a:txBody>
                    <a:bodyPr/>
                    <a:lstStyle/>
                    <a:p>
                      <a:pPr algn="ctr">
                        <a:lnSpc>
                          <a:spcPct val="115000"/>
                        </a:lnSpc>
                        <a:spcAft>
                          <a:spcPts val="800"/>
                        </a:spcAft>
                      </a:pPr>
                      <a:r>
                        <a:rPr lang="en-US" sz="1400" b="0" cap="none" spc="0">
                          <a:solidFill>
                            <a:schemeClr val="bg1"/>
                          </a:solidFill>
                          <a:effectLst/>
                        </a:rPr>
                        <a:t>Recall (Macro)</a:t>
                      </a:r>
                      <a:endParaRPr lang="en-IN" sz="1400" b="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tc>
                  <a:txBody>
                    <a:bodyPr/>
                    <a:lstStyle/>
                    <a:p>
                      <a:pPr algn="ctr">
                        <a:lnSpc>
                          <a:spcPct val="115000"/>
                        </a:lnSpc>
                        <a:spcAft>
                          <a:spcPts val="800"/>
                        </a:spcAft>
                      </a:pPr>
                      <a:r>
                        <a:rPr lang="en-US" sz="1400" b="0" cap="none" spc="0">
                          <a:solidFill>
                            <a:schemeClr val="bg1"/>
                          </a:solidFill>
                          <a:effectLst/>
                        </a:rPr>
                        <a:t>F1-Score (Macro)</a:t>
                      </a:r>
                      <a:endParaRPr lang="en-IN" sz="1400" b="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tc>
                  <a:txBody>
                    <a:bodyPr/>
                    <a:lstStyle/>
                    <a:p>
                      <a:pPr algn="ctr">
                        <a:lnSpc>
                          <a:spcPct val="115000"/>
                        </a:lnSpc>
                        <a:spcAft>
                          <a:spcPts val="800"/>
                        </a:spcAft>
                      </a:pPr>
                      <a:r>
                        <a:rPr lang="en-US" sz="1400" b="0" cap="none" spc="0">
                          <a:solidFill>
                            <a:schemeClr val="bg1"/>
                          </a:solidFill>
                          <a:effectLst/>
                        </a:rPr>
                        <a:t>Weighted Precision</a:t>
                      </a:r>
                      <a:endParaRPr lang="en-IN" sz="1400" b="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tc>
                  <a:txBody>
                    <a:bodyPr/>
                    <a:lstStyle/>
                    <a:p>
                      <a:pPr algn="ctr">
                        <a:lnSpc>
                          <a:spcPct val="115000"/>
                        </a:lnSpc>
                        <a:spcAft>
                          <a:spcPts val="800"/>
                        </a:spcAft>
                      </a:pPr>
                      <a:r>
                        <a:rPr lang="en-US" sz="1400" b="0" cap="none" spc="0">
                          <a:solidFill>
                            <a:schemeClr val="bg1"/>
                          </a:solidFill>
                          <a:effectLst/>
                        </a:rPr>
                        <a:t>Weighted Recall</a:t>
                      </a:r>
                      <a:endParaRPr lang="en-IN" sz="1400" b="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tc>
                  <a:txBody>
                    <a:bodyPr/>
                    <a:lstStyle/>
                    <a:p>
                      <a:pPr algn="ctr">
                        <a:lnSpc>
                          <a:spcPct val="115000"/>
                        </a:lnSpc>
                        <a:spcAft>
                          <a:spcPts val="800"/>
                        </a:spcAft>
                      </a:pPr>
                      <a:r>
                        <a:rPr lang="en-US" sz="1400" b="0" cap="none" spc="0">
                          <a:solidFill>
                            <a:schemeClr val="bg1"/>
                          </a:solidFill>
                          <a:effectLst/>
                        </a:rPr>
                        <a:t>Weighted F1-Score</a:t>
                      </a:r>
                      <a:endParaRPr lang="en-IN" sz="1400" b="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900" marT="77318" marB="6253" anchor="ctr">
                    <a:lnL w="12700" cmpd="sng">
                      <a:noFill/>
                      <a:prstDash val="solid"/>
                    </a:lnL>
                    <a:lnR w="12700" cmpd="sng">
                      <a:noFill/>
                      <a:prstDash val="solid"/>
                    </a:lnR>
                    <a:lnT w="19050" cap="flat" cmpd="sng" algn="ctr">
                      <a:noFill/>
                      <a:prstDash val="solid"/>
                    </a:lnT>
                    <a:lnB w="12700" cmpd="sng">
                      <a:noFill/>
                      <a:prstDash val="solid"/>
                    </a:lnB>
                    <a:solidFill>
                      <a:schemeClr val="accent2"/>
                    </a:solidFill>
                  </a:tcPr>
                </a:tc>
                <a:extLst>
                  <a:ext uri="{0D108BD9-81ED-4DB2-BD59-A6C34878D82A}">
                    <a16:rowId xmlns:a16="http://schemas.microsoft.com/office/drawing/2014/main" val="1526924953"/>
                  </a:ext>
                </a:extLst>
              </a:tr>
              <a:tr h="493372">
                <a:tc>
                  <a:txBody>
                    <a:bodyPr/>
                    <a:lstStyle/>
                    <a:p>
                      <a:pPr algn="ctr">
                        <a:lnSpc>
                          <a:spcPct val="115000"/>
                        </a:lnSpc>
                        <a:spcAft>
                          <a:spcPts val="800"/>
                        </a:spcAft>
                      </a:pPr>
                      <a:r>
                        <a:rPr lang="en-US" sz="1000" b="1" cap="none" spc="0">
                          <a:solidFill>
                            <a:schemeClr val="bg1"/>
                          </a:solidFill>
                          <a:effectLst/>
                        </a:rPr>
                        <a:t>2014</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Logistic Regression</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0.4427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0.64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0.16</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0.61</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0.44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552867571"/>
                  </a:ext>
                </a:extLst>
              </a:tr>
              <a:tr h="337457">
                <a:tc>
                  <a:txBody>
                    <a:bodyPr/>
                    <a:lstStyle/>
                    <a:p>
                      <a:pPr algn="ctr">
                        <a:lnSpc>
                          <a:spcPct val="115000"/>
                        </a:lnSpc>
                        <a:spcAft>
                          <a:spcPts val="800"/>
                        </a:spcAft>
                      </a:pPr>
                      <a:r>
                        <a:rPr lang="en-US" sz="1000" b="1" cap="none" spc="0">
                          <a:solidFill>
                            <a:schemeClr val="bg1"/>
                          </a:solidFill>
                          <a:effectLst/>
                        </a:rPr>
                        <a:t>2014</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ANN</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0.4427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0.81</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0.16</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0.74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0.44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3202788445"/>
                  </a:ext>
                </a:extLst>
              </a:tr>
              <a:tr h="337457">
                <a:tc>
                  <a:txBody>
                    <a:bodyPr/>
                    <a:lstStyle/>
                    <a:p>
                      <a:pPr algn="ctr">
                        <a:lnSpc>
                          <a:spcPct val="115000"/>
                        </a:lnSpc>
                        <a:spcAft>
                          <a:spcPts val="800"/>
                        </a:spcAft>
                      </a:pPr>
                      <a:r>
                        <a:rPr lang="en-US" sz="1000" b="1" cap="none" spc="0">
                          <a:solidFill>
                            <a:schemeClr val="bg1"/>
                          </a:solidFill>
                          <a:effectLst/>
                        </a:rPr>
                        <a:t>2014</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Random Forest</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0.4428</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0.81</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0.16</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0.72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0.44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2418424152"/>
                  </a:ext>
                </a:extLst>
              </a:tr>
              <a:tr h="553410">
                <a:tc>
                  <a:txBody>
                    <a:bodyPr/>
                    <a:lstStyle/>
                    <a:p>
                      <a:pPr algn="ctr">
                        <a:lnSpc>
                          <a:spcPct val="115000"/>
                        </a:lnSpc>
                        <a:spcAft>
                          <a:spcPts val="800"/>
                        </a:spcAft>
                      </a:pPr>
                      <a:r>
                        <a:rPr lang="en-US" sz="1000" b="1" cap="none" spc="0">
                          <a:solidFill>
                            <a:schemeClr val="bg1"/>
                          </a:solidFill>
                          <a:effectLst/>
                        </a:rPr>
                        <a:t>2016</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Logistic Regression</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0.5167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0.68</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0.17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0.62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0.52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0.35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416246158"/>
                  </a:ext>
                </a:extLst>
              </a:tr>
              <a:tr h="337457">
                <a:tc>
                  <a:txBody>
                    <a:bodyPr/>
                    <a:lstStyle/>
                    <a:p>
                      <a:pPr algn="ctr">
                        <a:lnSpc>
                          <a:spcPct val="115000"/>
                        </a:lnSpc>
                        <a:spcAft>
                          <a:spcPts val="800"/>
                        </a:spcAft>
                      </a:pPr>
                      <a:r>
                        <a:rPr lang="en-US" sz="1000" b="1" cap="none" spc="0">
                          <a:solidFill>
                            <a:schemeClr val="bg1"/>
                          </a:solidFill>
                          <a:effectLst/>
                        </a:rPr>
                        <a:t>2016</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ANN</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0.5168</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0.77</a:t>
                      </a:r>
                      <a:endParaRPr lang="en-IN" sz="1000"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0.17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0.68</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0.52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0.35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249494628"/>
                  </a:ext>
                </a:extLst>
              </a:tr>
              <a:tr h="337457">
                <a:tc>
                  <a:txBody>
                    <a:bodyPr/>
                    <a:lstStyle/>
                    <a:p>
                      <a:pPr algn="ctr">
                        <a:lnSpc>
                          <a:spcPct val="115000"/>
                        </a:lnSpc>
                        <a:spcAft>
                          <a:spcPts val="800"/>
                        </a:spcAft>
                      </a:pPr>
                      <a:r>
                        <a:rPr lang="en-US" sz="1000" b="1" cap="none" spc="0">
                          <a:solidFill>
                            <a:schemeClr val="bg1"/>
                          </a:solidFill>
                          <a:effectLst/>
                        </a:rPr>
                        <a:t>2016</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Random Forest</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0.5169</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0.85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0.17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0.73</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0.52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0.35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629467269"/>
                  </a:ext>
                </a:extLst>
              </a:tr>
              <a:tr h="553410">
                <a:tc>
                  <a:txBody>
                    <a:bodyPr/>
                    <a:lstStyle/>
                    <a:p>
                      <a:pPr algn="ctr">
                        <a:lnSpc>
                          <a:spcPct val="115000"/>
                        </a:lnSpc>
                        <a:spcAft>
                          <a:spcPts val="800"/>
                        </a:spcAft>
                      </a:pPr>
                      <a:r>
                        <a:rPr lang="en-US" sz="1000" b="1" cap="none" spc="0">
                          <a:solidFill>
                            <a:schemeClr val="bg1"/>
                          </a:solidFill>
                          <a:effectLst/>
                        </a:rPr>
                        <a:t>2020</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Logistic Regression</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0.4427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0.70</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0.16</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0.65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0.44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536135575"/>
                  </a:ext>
                </a:extLst>
              </a:tr>
              <a:tr h="337457">
                <a:tc>
                  <a:txBody>
                    <a:bodyPr/>
                    <a:lstStyle/>
                    <a:p>
                      <a:pPr algn="ctr">
                        <a:lnSpc>
                          <a:spcPct val="115000"/>
                        </a:lnSpc>
                        <a:spcAft>
                          <a:spcPts val="800"/>
                        </a:spcAft>
                      </a:pPr>
                      <a:r>
                        <a:rPr lang="en-US" sz="1000" b="1" cap="none" spc="0">
                          <a:solidFill>
                            <a:schemeClr val="bg1"/>
                          </a:solidFill>
                          <a:effectLst/>
                        </a:rPr>
                        <a:t>2020</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ANN</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0.4428</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0.78</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0.16</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0.70</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0.44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2364627845"/>
                  </a:ext>
                </a:extLst>
              </a:tr>
              <a:tr h="337457">
                <a:tc>
                  <a:txBody>
                    <a:bodyPr/>
                    <a:lstStyle/>
                    <a:p>
                      <a:pPr algn="ctr">
                        <a:lnSpc>
                          <a:spcPct val="115000"/>
                        </a:lnSpc>
                        <a:spcAft>
                          <a:spcPts val="800"/>
                        </a:spcAft>
                      </a:pPr>
                      <a:r>
                        <a:rPr lang="en-US" sz="1000" b="1" cap="none" spc="0">
                          <a:solidFill>
                            <a:schemeClr val="bg1"/>
                          </a:solidFill>
                          <a:effectLst/>
                        </a:rPr>
                        <a:t>2020</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Random Forest</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0.4429</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0.83</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0.16</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0.73</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0.44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4199005919"/>
                  </a:ext>
                </a:extLst>
              </a:tr>
              <a:tr h="553410">
                <a:tc>
                  <a:txBody>
                    <a:bodyPr/>
                    <a:lstStyle/>
                    <a:p>
                      <a:pPr algn="ctr">
                        <a:lnSpc>
                          <a:spcPct val="115000"/>
                        </a:lnSpc>
                        <a:spcAft>
                          <a:spcPts val="800"/>
                        </a:spcAft>
                      </a:pPr>
                      <a:r>
                        <a:rPr lang="en-US" sz="1000" b="1" cap="none" spc="0">
                          <a:solidFill>
                            <a:schemeClr val="bg1"/>
                          </a:solidFill>
                          <a:effectLst/>
                        </a:rPr>
                        <a:t>2024</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Logistic Regression</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0.5169</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8.77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0.17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0.67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0.52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0.35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506494558"/>
                  </a:ext>
                </a:extLst>
              </a:tr>
              <a:tr h="337457">
                <a:tc>
                  <a:txBody>
                    <a:bodyPr/>
                    <a:lstStyle/>
                    <a:p>
                      <a:pPr algn="ctr">
                        <a:lnSpc>
                          <a:spcPct val="115000"/>
                        </a:lnSpc>
                        <a:spcAft>
                          <a:spcPts val="800"/>
                        </a:spcAft>
                      </a:pPr>
                      <a:r>
                        <a:rPr lang="en-US" sz="1000" b="1" cap="none" spc="0">
                          <a:solidFill>
                            <a:schemeClr val="bg1"/>
                          </a:solidFill>
                          <a:effectLst/>
                        </a:rPr>
                        <a:t>2024</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ANN</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0.5169</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8.32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0.17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8.35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0.52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tc>
                  <a:txBody>
                    <a:bodyPr/>
                    <a:lstStyle/>
                    <a:p>
                      <a:pPr algn="ctr">
                        <a:lnSpc>
                          <a:spcPct val="115000"/>
                        </a:lnSpc>
                        <a:spcAft>
                          <a:spcPts val="800"/>
                        </a:spcAft>
                      </a:pPr>
                      <a:r>
                        <a:rPr lang="en-US" sz="1000" cap="none" spc="0">
                          <a:solidFill>
                            <a:schemeClr val="bg1"/>
                          </a:solidFill>
                          <a:effectLst/>
                        </a:rPr>
                        <a:t>0.35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6253" marT="77318" marB="6253"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2459866558"/>
                  </a:ext>
                </a:extLst>
              </a:tr>
              <a:tr h="337457">
                <a:tc>
                  <a:txBody>
                    <a:bodyPr/>
                    <a:lstStyle/>
                    <a:p>
                      <a:pPr algn="ctr">
                        <a:lnSpc>
                          <a:spcPct val="115000"/>
                        </a:lnSpc>
                        <a:spcAft>
                          <a:spcPts val="800"/>
                        </a:spcAft>
                      </a:pPr>
                      <a:r>
                        <a:rPr lang="en-US" sz="1000" b="1" cap="none" spc="0">
                          <a:solidFill>
                            <a:schemeClr val="bg1"/>
                          </a:solidFill>
                          <a:effectLst/>
                        </a:rPr>
                        <a:t>2024</a:t>
                      </a:r>
                      <a:endParaRPr lang="en-IN" sz="1000" b="1"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Random Forest</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0.5170</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0.85</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0.25</a:t>
                      </a:r>
                      <a:endParaRPr lang="en-IN" sz="1000"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0.17</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0.74</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a:solidFill>
                            <a:schemeClr val="bg1"/>
                          </a:solidFill>
                          <a:effectLst/>
                        </a:rPr>
                        <a:t>0.52</a:t>
                      </a:r>
                      <a:endParaRPr lang="en-IN" sz="1000" cap="none" spc="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algn="ctr">
                        <a:lnSpc>
                          <a:spcPct val="115000"/>
                        </a:lnSpc>
                        <a:spcAft>
                          <a:spcPts val="800"/>
                        </a:spcAft>
                      </a:pPr>
                      <a:r>
                        <a:rPr lang="en-US" sz="1000" cap="none" spc="0" dirty="0">
                          <a:solidFill>
                            <a:schemeClr val="bg1"/>
                          </a:solidFill>
                          <a:effectLst/>
                        </a:rPr>
                        <a:t>0.35</a:t>
                      </a:r>
                      <a:endParaRPr lang="en-IN" sz="1000" cap="none" spc="0"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4497" marR="6253" marT="77318" marB="6253"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835140473"/>
                  </a:ext>
                </a:extLst>
              </a:tr>
            </a:tbl>
          </a:graphicData>
        </a:graphic>
      </p:graphicFrame>
      <p:sp>
        <p:nvSpPr>
          <p:cNvPr id="4" name="Rectangle 1">
            <a:extLst>
              <a:ext uri="{FF2B5EF4-FFF2-40B4-BE49-F238E27FC236}">
                <a16:creationId xmlns:a16="http://schemas.microsoft.com/office/drawing/2014/main" id="{66BA644F-3C32-27E7-5228-7AE6BC4CF9CF}"/>
              </a:ext>
            </a:extLst>
          </p:cNvPr>
          <p:cNvSpPr>
            <a:spLocks noChangeArrowheads="1"/>
          </p:cNvSpPr>
          <p:nvPr/>
        </p:nvSpPr>
        <p:spPr bwMode="auto">
          <a:xfrm>
            <a:off x="506136" y="1661652"/>
            <a:ext cx="4094017" cy="163291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0" marR="0" lvl="0" indent="0" algn="ctr" fontAlgn="base">
              <a:spcBef>
                <a:spcPct val="0"/>
              </a:spcBef>
              <a:spcAft>
                <a:spcPts val="600"/>
              </a:spcAft>
              <a:buClrTx/>
              <a:buSzTx/>
              <a:tabLst/>
            </a:pPr>
            <a:r>
              <a:rPr kumimoji="0" lang="en-US" altLang="en-US" sz="4800" b="1" i="0" u="none" strike="noStrike" normalizeH="0" baseline="0">
                <a:ln w="3175" cmpd="sng">
                  <a:noFill/>
                </a:ln>
                <a:solidFill>
                  <a:srgbClr val="262626"/>
                </a:solidFill>
                <a:latin typeface="+mj-lt"/>
                <a:ea typeface="+mj-ea"/>
                <a:cs typeface="+mj-cs"/>
              </a:rPr>
              <a:t>Results Table </a:t>
            </a:r>
            <a:endParaRPr kumimoji="0" lang="en-US" altLang="en-US" sz="4800" b="0" i="0" u="none" strike="noStrike" normalizeH="0" baseline="0">
              <a:ln w="3175" cmpd="sng">
                <a:noFill/>
              </a:ln>
              <a:solidFill>
                <a:srgbClr val="262626"/>
              </a:solidFill>
              <a:latin typeface="+mj-lt"/>
              <a:ea typeface="+mj-ea"/>
              <a:cs typeface="+mj-cs"/>
            </a:endParaRPr>
          </a:p>
          <a:p>
            <a:pPr marL="0" marR="0" lvl="0" indent="0" algn="ctr" fontAlgn="base">
              <a:spcBef>
                <a:spcPct val="0"/>
              </a:spcBef>
              <a:spcAft>
                <a:spcPts val="600"/>
              </a:spcAft>
              <a:buClrTx/>
              <a:buSzTx/>
              <a:tabLst/>
            </a:pPr>
            <a:endParaRPr kumimoji="0" lang="en-US" altLang="en-US" sz="4800" b="0" i="0" u="none" strike="noStrike" normalizeH="0" baseline="0" dirty="0">
              <a:ln w="3175" cmpd="sng">
                <a:noFill/>
              </a:ln>
              <a:solidFill>
                <a:srgbClr val="262626"/>
              </a:solidFill>
              <a:latin typeface="+mj-lt"/>
              <a:ea typeface="+mj-ea"/>
              <a:cs typeface="+mj-cs"/>
            </a:endParaRPr>
          </a:p>
        </p:txBody>
      </p:sp>
    </p:spTree>
    <p:extLst>
      <p:ext uri="{BB962C8B-B14F-4D97-AF65-F5344CB8AC3E}">
        <p14:creationId xmlns:p14="http://schemas.microsoft.com/office/powerpoint/2010/main" val="2525501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8BCD25-0BEA-2196-E03C-FC2870E926E8}"/>
              </a:ext>
            </a:extLst>
          </p:cNvPr>
          <p:cNvSpPr txBox="1"/>
          <p:nvPr/>
        </p:nvSpPr>
        <p:spPr>
          <a:xfrm>
            <a:off x="747251" y="819160"/>
            <a:ext cx="10382866" cy="5548057"/>
          </a:xfrm>
          <a:prstGeom prst="rect">
            <a:avLst/>
          </a:prstGeom>
          <a:noFill/>
        </p:spPr>
        <p:txBody>
          <a:bodyPr wrap="square">
            <a:spAutoFit/>
          </a:bodyPr>
          <a:lstStyle/>
          <a:p>
            <a:pPr marL="1270" algn="ctr">
              <a:lnSpc>
                <a:spcPct val="115000"/>
              </a:lnSpc>
              <a:spcBef>
                <a:spcPts val="195"/>
              </a:spcBef>
              <a:spcAft>
                <a:spcPts val="600"/>
              </a:spcAft>
            </a:pPr>
            <a:r>
              <a:rPr lang="en-IN" sz="1600" b="1" u="sng" dirty="0">
                <a:effectLst/>
                <a:latin typeface="Times New Roman" panose="02020603050405020304" pitchFamily="18" charset="0"/>
                <a:ea typeface="Times New Roman" panose="02020603050405020304" pitchFamily="18" charset="0"/>
              </a:rPr>
              <a:t>Insights from the Band stack Data Results (2014–2024)</a:t>
            </a:r>
            <a:endParaRPr lang="en-IN" sz="1600" u="sng" dirty="0">
              <a:effectLst/>
              <a:latin typeface="Times New Roman" panose="02020603050405020304" pitchFamily="18" charset="0"/>
              <a:ea typeface="Times New Roman" panose="02020603050405020304" pitchFamily="18" charset="0"/>
            </a:endParaRPr>
          </a:p>
          <a:p>
            <a:pPr marL="342900" lvl="0" indent="-342900" algn="just">
              <a:lnSpc>
                <a:spcPct val="115000"/>
              </a:lnSpc>
              <a:spcBef>
                <a:spcPts val="195"/>
              </a:spcBef>
              <a:spcAft>
                <a:spcPts val="600"/>
              </a:spcAft>
              <a:tabLst>
                <a:tab pos="457200" algn="l"/>
              </a:tabLst>
            </a:pPr>
            <a:r>
              <a:rPr lang="en-IN" sz="1400" b="1" dirty="0">
                <a:effectLst/>
                <a:latin typeface="Times New Roman" panose="02020603050405020304" pitchFamily="18" charset="0"/>
                <a:ea typeface="Times New Roman" panose="02020603050405020304" pitchFamily="18" charset="0"/>
              </a:rPr>
              <a:t>Overall Accuracy Improvement</a:t>
            </a:r>
            <a:endParaRPr lang="en-IN" sz="14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Accuracy has improved from 0.44 in 2014 and 2020 to 0.52 in 2016 and 2024 for all models.</a:t>
            </a: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The 2024 results show the highest accuracy (0.52), suggesting some improvement in classification, possibly due to better data quality or changes in class</a:t>
            </a:r>
          </a:p>
          <a:p>
            <a:pPr lvl="1" algn="just">
              <a:lnSpc>
                <a:spcPct val="115000"/>
              </a:lnSpc>
              <a:spcBef>
                <a:spcPts val="195"/>
              </a:spcBef>
              <a:spcAft>
                <a:spcPts val="600"/>
              </a:spcAft>
              <a:buSzPts val="1000"/>
              <a:tabLst>
                <a:tab pos="588645" algn="l"/>
              </a:tabLst>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         </a:t>
            </a: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 distributions.</a:t>
            </a:r>
          </a:p>
          <a:p>
            <a:pPr marL="342900" lvl="0" indent="-342900" algn="just">
              <a:lnSpc>
                <a:spcPct val="115000"/>
              </a:lnSpc>
              <a:spcBef>
                <a:spcPts val="195"/>
              </a:spcBef>
              <a:spcAft>
                <a:spcPts val="600"/>
              </a:spcAft>
              <a:tabLst>
                <a:tab pos="457200" algn="l"/>
              </a:tabLst>
            </a:pPr>
            <a:r>
              <a:rPr lang="en-IN" sz="1400" b="1" dirty="0">
                <a:effectLst/>
                <a:latin typeface="Times New Roman" panose="02020603050405020304" pitchFamily="18" charset="0"/>
                <a:ea typeface="Times New Roman" panose="02020603050405020304" pitchFamily="18" charset="0"/>
              </a:rPr>
              <a:t>Model Performance Trends</a:t>
            </a:r>
            <a:endParaRPr lang="en-IN" sz="14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Random Forest consistently performs slightly better than Logistic Regression and ANN across all years.</a:t>
            </a: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ANN’s macro precision has high variability, especially in 2024 (where it appears unusually high, possibly due to a data processing issue).</a:t>
            </a: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Logistic Regression and ANN show marginal improvements in accuracy but still struggle with lower recall values.</a:t>
            </a:r>
          </a:p>
          <a:p>
            <a:pPr marL="342900" lvl="0" indent="-342900" algn="just">
              <a:lnSpc>
                <a:spcPct val="115000"/>
              </a:lnSpc>
              <a:spcBef>
                <a:spcPts val="195"/>
              </a:spcBef>
              <a:spcAft>
                <a:spcPts val="600"/>
              </a:spcAft>
              <a:tabLst>
                <a:tab pos="457200" algn="l"/>
              </a:tabLst>
            </a:pPr>
            <a:r>
              <a:rPr lang="en-IN" sz="1400" b="1" dirty="0">
                <a:effectLst/>
                <a:latin typeface="Times New Roman" panose="02020603050405020304" pitchFamily="18" charset="0"/>
                <a:ea typeface="Times New Roman" panose="02020603050405020304" pitchFamily="18" charset="0"/>
              </a:rPr>
              <a:t>Challenges in Classifying Certain Classes</a:t>
            </a:r>
            <a:endParaRPr lang="en-IN" sz="14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Across all years, Class 4 dominates with high recall (~1.00) and F1-score (~0.61–0.68), meaning most predictions are assigned to Class 4.</a:t>
            </a: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Classes 1, 2, and 3 have near-zero recall, meaning the model struggles to correctly classify these classes. This issue persists across all years and models.</a:t>
            </a:r>
          </a:p>
          <a:p>
            <a:pPr marL="342900" lvl="0" indent="-342900" algn="just">
              <a:lnSpc>
                <a:spcPct val="115000"/>
              </a:lnSpc>
              <a:spcBef>
                <a:spcPts val="195"/>
              </a:spcBef>
              <a:spcAft>
                <a:spcPts val="600"/>
              </a:spcAft>
              <a:tabLst>
                <a:tab pos="457200" algn="l"/>
              </a:tabLst>
            </a:pPr>
            <a:endParaRPr lang="en-IN" sz="16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9993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000DEC8-168B-B0FA-570B-93FD490D4D97}"/>
              </a:ext>
            </a:extLst>
          </p:cNvPr>
          <p:cNvSpPr txBox="1"/>
          <p:nvPr/>
        </p:nvSpPr>
        <p:spPr>
          <a:xfrm>
            <a:off x="997974" y="1767436"/>
            <a:ext cx="10196051" cy="3138360"/>
          </a:xfrm>
          <a:prstGeom prst="rect">
            <a:avLst/>
          </a:prstGeom>
          <a:noFill/>
        </p:spPr>
        <p:txBody>
          <a:bodyPr wrap="square">
            <a:spAutoFit/>
          </a:bodyPr>
          <a:lstStyle/>
          <a:p>
            <a:pPr marL="342900" lvl="0" indent="-342900" algn="just">
              <a:lnSpc>
                <a:spcPct val="115000"/>
              </a:lnSpc>
              <a:spcBef>
                <a:spcPts val="195"/>
              </a:spcBef>
              <a:spcAft>
                <a:spcPts val="600"/>
              </a:spcAft>
              <a:tabLst>
                <a:tab pos="457200" algn="l"/>
              </a:tabLst>
            </a:pPr>
            <a:r>
              <a:rPr lang="en-IN" sz="1600" b="1" dirty="0">
                <a:effectLst/>
                <a:latin typeface="Times New Roman" panose="02020603050405020304" pitchFamily="18" charset="0"/>
                <a:ea typeface="Times New Roman" panose="02020603050405020304" pitchFamily="18" charset="0"/>
              </a:rPr>
              <a:t>Macro vs. Weighted Metrics</a:t>
            </a:r>
            <a:endParaRPr lang="en-IN" sz="16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Macro-averaged precision is much higher in 2024 (possibly an anomaly), whereas weighted precision follows a more reasonable trend.</a:t>
            </a: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Weighted recall remains stable across years (0.44 in 2014 &amp; 2020, 0.52 in 2016 &amp; 2024), reinforcing that the models heavily </a:t>
            </a:r>
            <a:r>
              <a:rPr lang="en-IN" sz="1600" dirty="0" err="1">
                <a:effectLst/>
                <a:latin typeface="Times New Roman" panose="02020603050405020304" pitchFamily="18" charset="0"/>
                <a:ea typeface="Times New Roman" panose="02020603050405020304" pitchFamily="18" charset="0"/>
                <a:cs typeface="Times New Roman" panose="02020603050405020304" pitchFamily="18" charset="0"/>
              </a:rPr>
              <a:t>favor</a:t>
            </a: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 the majority class (Class 4).</a:t>
            </a:r>
          </a:p>
          <a:p>
            <a:pPr marL="342900" lvl="0" indent="-342900" algn="just">
              <a:lnSpc>
                <a:spcPct val="115000"/>
              </a:lnSpc>
              <a:spcBef>
                <a:spcPts val="195"/>
              </a:spcBef>
              <a:spcAft>
                <a:spcPts val="600"/>
              </a:spcAft>
              <a:tabLst>
                <a:tab pos="457200" algn="l"/>
              </a:tabLst>
            </a:pPr>
            <a:r>
              <a:rPr lang="en-IN" sz="1600" b="1" dirty="0">
                <a:effectLst/>
                <a:latin typeface="Times New Roman" panose="02020603050405020304" pitchFamily="18" charset="0"/>
                <a:ea typeface="Times New Roman" panose="02020603050405020304" pitchFamily="18" charset="0"/>
              </a:rPr>
              <a:t>Random Forest as the Best Model</a:t>
            </a:r>
            <a:endParaRPr lang="en-IN" sz="16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Random Forest achieves the highest accuracy in all years, marginally outperforming the other models.</a:t>
            </a:r>
          </a:p>
          <a:p>
            <a:pPr marL="742950" lvl="1" indent="-285750" algn="just">
              <a:lnSpc>
                <a:spcPct val="115000"/>
              </a:lnSpc>
              <a:spcBef>
                <a:spcPts val="195"/>
              </a:spcBef>
              <a:spcAft>
                <a:spcPts val="600"/>
              </a:spcAft>
              <a:buSzPts val="1000"/>
              <a:buFont typeface="Courier New" panose="02070309020205020404" pitchFamily="49" charset="0"/>
              <a:buChar char="o"/>
              <a:tabLst>
                <a:tab pos="588645" algn="l"/>
              </a:tabLst>
            </a:pPr>
            <a:r>
              <a:rPr lang="en-IN" sz="1600" dirty="0">
                <a:effectLst/>
                <a:latin typeface="Times New Roman" panose="02020603050405020304" pitchFamily="18" charset="0"/>
                <a:ea typeface="Times New Roman" panose="02020603050405020304" pitchFamily="18" charset="0"/>
                <a:cs typeface="Times New Roman" panose="02020603050405020304" pitchFamily="18" charset="0"/>
              </a:rPr>
              <a:t>However, its recall and F1-score patterns remain similar to the other models, meaning it still struggles with minority classes.</a:t>
            </a:r>
            <a:endParaRPr lang="en-IN" sz="2800" dirty="0"/>
          </a:p>
        </p:txBody>
      </p:sp>
    </p:spTree>
    <p:extLst>
      <p:ext uri="{BB962C8B-B14F-4D97-AF65-F5344CB8AC3E}">
        <p14:creationId xmlns:p14="http://schemas.microsoft.com/office/powerpoint/2010/main" val="40978574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49C117F-F390-437B-ADB0-57E87EFF34F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9" name="Picture 8">
              <a:extLst>
                <a:ext uri="{FF2B5EF4-FFF2-40B4-BE49-F238E27FC236}">
                  <a16:creationId xmlns:a16="http://schemas.microsoft.com/office/drawing/2014/main" id="{A7EF42F8-2417-49A6-95CE-DE9503B0AA66}"/>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0" name="Rectangle 9">
              <a:extLst>
                <a:ext uri="{FF2B5EF4-FFF2-40B4-BE49-F238E27FC236}">
                  <a16:creationId xmlns:a16="http://schemas.microsoft.com/office/drawing/2014/main" id="{AC6F623B-2003-4AED-B02F-541A150EC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11" name="Picture 10">
              <a:extLst>
                <a:ext uri="{FF2B5EF4-FFF2-40B4-BE49-F238E27FC236}">
                  <a16:creationId xmlns:a16="http://schemas.microsoft.com/office/drawing/2014/main" id="{CD11837A-4F3D-419F-ACE2-E80B1EA2846F}"/>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2" name="Picture 11">
              <a:extLst>
                <a:ext uri="{FF2B5EF4-FFF2-40B4-BE49-F238E27FC236}">
                  <a16:creationId xmlns:a16="http://schemas.microsoft.com/office/drawing/2014/main" id="{B9411D1A-7E2C-4A36-BE32-BF7A8E13072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4" name="Straight Connector 13">
            <a:extLst>
              <a:ext uri="{FF2B5EF4-FFF2-40B4-BE49-F238E27FC236}">
                <a16:creationId xmlns:a16="http://schemas.microsoft.com/office/drawing/2014/main" id="{20742BC3-654B-4E41-9A6A-73A42E4776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p:nvSpPr>
          <p:cNvPr id="16" name="Rectangle 15">
            <a:extLst>
              <a:ext uri="{FF2B5EF4-FFF2-40B4-BE49-F238E27FC236}">
                <a16:creationId xmlns:a16="http://schemas.microsoft.com/office/drawing/2014/main" id="{9401732C-37EE-4B98-A709-9530173F3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654E48C8-2A00-4C54-BC9C-B18EE49E9C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786"/>
            <a:ext cx="12229962" cy="6856214"/>
            <a:chOff x="-15736" y="0"/>
            <a:chExt cx="12229962" cy="6856214"/>
          </a:xfrm>
        </p:grpSpPr>
        <p:pic>
          <p:nvPicPr>
            <p:cNvPr id="19" name="Picture 18">
              <a:extLst>
                <a:ext uri="{FF2B5EF4-FFF2-40B4-BE49-F238E27FC236}">
                  <a16:creationId xmlns:a16="http://schemas.microsoft.com/office/drawing/2014/main" id="{CE0A0544-8F52-43F0-AC3E-DF683908B568}"/>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5">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0" name="Rectangle 19">
              <a:extLst>
                <a:ext uri="{FF2B5EF4-FFF2-40B4-BE49-F238E27FC236}">
                  <a16:creationId xmlns:a16="http://schemas.microsoft.com/office/drawing/2014/main" id="{2F4057D3-A680-4443-9E51-ED920A691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21" name="Picture 20">
              <a:extLst>
                <a:ext uri="{FF2B5EF4-FFF2-40B4-BE49-F238E27FC236}">
                  <a16:creationId xmlns:a16="http://schemas.microsoft.com/office/drawing/2014/main" id="{2F6853A4-7B38-4FDE-B024-AE8BA71E738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22" name="Picture 21">
              <a:extLst>
                <a:ext uri="{FF2B5EF4-FFF2-40B4-BE49-F238E27FC236}">
                  <a16:creationId xmlns:a16="http://schemas.microsoft.com/office/drawing/2014/main" id="{86ADF4DB-4290-4441-8F8E-04152FE60631}"/>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3" name="Rectangle 1">
            <a:extLst>
              <a:ext uri="{FF2B5EF4-FFF2-40B4-BE49-F238E27FC236}">
                <a16:creationId xmlns:a16="http://schemas.microsoft.com/office/drawing/2014/main" id="{42CC22DF-9029-37F7-0738-9A07011503F1}"/>
              </a:ext>
            </a:extLst>
          </p:cNvPr>
          <p:cNvSpPr>
            <a:spLocks noChangeArrowheads="1"/>
          </p:cNvSpPr>
          <p:nvPr/>
        </p:nvSpPr>
        <p:spPr bwMode="auto">
          <a:xfrm>
            <a:off x="388620" y="1141405"/>
            <a:ext cx="4094017" cy="28238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b" anchorCtr="0" compatLnSpc="1">
            <a:prstTxWarp prst="textNoShape">
              <a:avLst/>
            </a:prstTxWarp>
            <a:normAutofit/>
          </a:bodyPr>
          <a:lstStyle/>
          <a:p>
            <a:pPr marL="0" marR="0" lvl="0" indent="0" algn="ctr" fontAlgn="base">
              <a:spcBef>
                <a:spcPct val="0"/>
              </a:spcBef>
              <a:spcAft>
                <a:spcPts val="600"/>
              </a:spcAft>
              <a:buClrTx/>
              <a:buSzTx/>
              <a:tabLst/>
            </a:pPr>
            <a:r>
              <a:rPr kumimoji="0" lang="en-US" altLang="en-US" sz="4800" b="1" i="0" u="none" strike="noStrike" normalizeH="0" baseline="0" dirty="0">
                <a:ln w="3175" cmpd="sng">
                  <a:noFill/>
                </a:ln>
                <a:solidFill>
                  <a:srgbClr val="262626"/>
                </a:solidFill>
                <a:latin typeface="+mj-lt"/>
                <a:ea typeface="+mj-ea"/>
                <a:cs typeface="+mj-cs"/>
              </a:rPr>
              <a:t>Statistical Analysis Results</a:t>
            </a:r>
            <a:endParaRPr kumimoji="0" lang="en-US" altLang="en-US" sz="4800" b="0" i="0" u="none" strike="noStrike" normalizeH="0" baseline="0" dirty="0">
              <a:ln w="3175" cmpd="sng">
                <a:noFill/>
              </a:ln>
              <a:solidFill>
                <a:srgbClr val="262626"/>
              </a:solidFill>
              <a:latin typeface="+mj-lt"/>
              <a:ea typeface="+mj-ea"/>
              <a:cs typeface="+mj-cs"/>
            </a:endParaRPr>
          </a:p>
          <a:p>
            <a:pPr marL="0" marR="0" lvl="0" indent="0" algn="ctr" fontAlgn="base">
              <a:spcBef>
                <a:spcPct val="0"/>
              </a:spcBef>
              <a:spcAft>
                <a:spcPts val="600"/>
              </a:spcAft>
              <a:buClrTx/>
              <a:buSzTx/>
              <a:tabLst/>
            </a:pPr>
            <a:endParaRPr kumimoji="0" lang="en-US" altLang="en-US" sz="4800" b="0" i="0" u="none" strike="noStrike" normalizeH="0" baseline="0" dirty="0">
              <a:ln w="3175" cmpd="sng">
                <a:noFill/>
              </a:ln>
              <a:solidFill>
                <a:srgbClr val="262626"/>
              </a:solidFill>
              <a:latin typeface="+mj-lt"/>
              <a:ea typeface="+mj-ea"/>
              <a:cs typeface="+mj-cs"/>
            </a:endParaRPr>
          </a:p>
        </p:txBody>
      </p:sp>
      <p:graphicFrame>
        <p:nvGraphicFramePr>
          <p:cNvPr id="5" name="Table 4">
            <a:extLst>
              <a:ext uri="{FF2B5EF4-FFF2-40B4-BE49-F238E27FC236}">
                <a16:creationId xmlns:a16="http://schemas.microsoft.com/office/drawing/2014/main" id="{F218F8CD-B17F-3BA5-1BB1-BE92097F1282}"/>
              </a:ext>
            </a:extLst>
          </p:cNvPr>
          <p:cNvGraphicFramePr>
            <a:graphicFrameLocks noGrp="1"/>
          </p:cNvGraphicFramePr>
          <p:nvPr>
            <p:extLst>
              <p:ext uri="{D42A27DB-BD31-4B8C-83A1-F6EECF244321}">
                <p14:modId xmlns:p14="http://schemas.microsoft.com/office/powerpoint/2010/main" val="1587941583"/>
              </p:ext>
            </p:extLst>
          </p:nvPr>
        </p:nvGraphicFramePr>
        <p:xfrm>
          <a:off x="4365244" y="735233"/>
          <a:ext cx="6966909" cy="5201271"/>
        </p:xfrm>
        <a:graphic>
          <a:graphicData uri="http://schemas.openxmlformats.org/drawingml/2006/table">
            <a:tbl>
              <a:tblPr firstRow="1" firstCol="1" bandRow="1">
                <a:tableStyleId>{5C22544A-7EE6-4342-B048-85BDC9FD1C3A}</a:tableStyleId>
              </a:tblPr>
              <a:tblGrid>
                <a:gridCol w="500073">
                  <a:extLst>
                    <a:ext uri="{9D8B030D-6E8A-4147-A177-3AD203B41FA5}">
                      <a16:colId xmlns:a16="http://schemas.microsoft.com/office/drawing/2014/main" val="3477779418"/>
                    </a:ext>
                  </a:extLst>
                </a:gridCol>
                <a:gridCol w="1067826">
                  <a:extLst>
                    <a:ext uri="{9D8B030D-6E8A-4147-A177-3AD203B41FA5}">
                      <a16:colId xmlns:a16="http://schemas.microsoft.com/office/drawing/2014/main" val="1875025733"/>
                    </a:ext>
                  </a:extLst>
                </a:gridCol>
                <a:gridCol w="781733">
                  <a:extLst>
                    <a:ext uri="{9D8B030D-6E8A-4147-A177-3AD203B41FA5}">
                      <a16:colId xmlns:a16="http://schemas.microsoft.com/office/drawing/2014/main" val="2851068359"/>
                    </a:ext>
                  </a:extLst>
                </a:gridCol>
                <a:gridCol w="1114400">
                  <a:extLst>
                    <a:ext uri="{9D8B030D-6E8A-4147-A177-3AD203B41FA5}">
                      <a16:colId xmlns:a16="http://schemas.microsoft.com/office/drawing/2014/main" val="1017377153"/>
                    </a:ext>
                  </a:extLst>
                </a:gridCol>
                <a:gridCol w="1604530">
                  <a:extLst>
                    <a:ext uri="{9D8B030D-6E8A-4147-A177-3AD203B41FA5}">
                      <a16:colId xmlns:a16="http://schemas.microsoft.com/office/drawing/2014/main" val="2259020897"/>
                    </a:ext>
                  </a:extLst>
                </a:gridCol>
                <a:gridCol w="936976">
                  <a:extLst>
                    <a:ext uri="{9D8B030D-6E8A-4147-A177-3AD203B41FA5}">
                      <a16:colId xmlns:a16="http://schemas.microsoft.com/office/drawing/2014/main" val="916182794"/>
                    </a:ext>
                  </a:extLst>
                </a:gridCol>
                <a:gridCol w="961371">
                  <a:extLst>
                    <a:ext uri="{9D8B030D-6E8A-4147-A177-3AD203B41FA5}">
                      <a16:colId xmlns:a16="http://schemas.microsoft.com/office/drawing/2014/main" val="847542499"/>
                    </a:ext>
                  </a:extLst>
                </a:gridCol>
              </a:tblGrid>
              <a:tr h="229009">
                <a:tc>
                  <a:txBody>
                    <a:bodyPr/>
                    <a:lstStyle/>
                    <a:p>
                      <a:pPr marL="1270" algn="ctr">
                        <a:lnSpc>
                          <a:spcPct val="115000"/>
                        </a:lnSpc>
                        <a:spcBef>
                          <a:spcPts val="195"/>
                        </a:spcBef>
                        <a:spcAft>
                          <a:spcPts val="600"/>
                        </a:spcAft>
                      </a:pPr>
                      <a:r>
                        <a:rPr lang="en-IN" sz="1100">
                          <a:effectLst/>
                        </a:rPr>
                        <a:t>Year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Raster Type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Mean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Variance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Standard Deviation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Min Value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Max Value</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2874961153"/>
                  </a:ext>
                </a:extLst>
              </a:tr>
              <a:tr h="229009">
                <a:tc>
                  <a:txBody>
                    <a:bodyPr/>
                    <a:lstStyle/>
                    <a:p>
                      <a:pPr marL="1270" algn="ctr">
                        <a:lnSpc>
                          <a:spcPct val="115000"/>
                        </a:lnSpc>
                        <a:spcBef>
                          <a:spcPts val="195"/>
                        </a:spcBef>
                        <a:spcAft>
                          <a:spcPts val="600"/>
                        </a:spcAft>
                      </a:pPr>
                      <a:r>
                        <a:rPr lang="en-IN" sz="1100">
                          <a:effectLst/>
                        </a:rPr>
                        <a:t>2024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Forest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11253.03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4,466,420.00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dirty="0">
                          <a:effectLst/>
                        </a:rPr>
                        <a:t>2113.39</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8439.0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19140.0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2996427278"/>
                  </a:ext>
                </a:extLst>
              </a:tr>
              <a:tr h="425050">
                <a:tc>
                  <a:txBody>
                    <a:bodyPr/>
                    <a:lstStyle/>
                    <a:p>
                      <a:pPr marL="1270" algn="ctr">
                        <a:lnSpc>
                          <a:spcPct val="115000"/>
                        </a:lnSpc>
                        <a:spcBef>
                          <a:spcPts val="195"/>
                        </a:spcBef>
                        <a:spcAft>
                          <a:spcPts val="600"/>
                        </a:spcAft>
                      </a:pPr>
                      <a:r>
                        <a:rPr lang="en-IN" sz="1100">
                          <a:effectLst/>
                        </a:rPr>
                        <a:t>2024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Others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14899.56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11,090,215.00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3330.20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7663.0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25335.0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3277240646"/>
                  </a:ext>
                </a:extLst>
              </a:tr>
              <a:tr h="229009">
                <a:tc>
                  <a:txBody>
                    <a:bodyPr/>
                    <a:lstStyle/>
                    <a:p>
                      <a:pPr marL="1270" algn="ctr">
                        <a:lnSpc>
                          <a:spcPct val="115000"/>
                        </a:lnSpc>
                        <a:spcBef>
                          <a:spcPts val="195"/>
                        </a:spcBef>
                        <a:spcAft>
                          <a:spcPts val="600"/>
                        </a:spcAft>
                      </a:pPr>
                      <a:r>
                        <a:rPr lang="en-IN" sz="1100">
                          <a:effectLst/>
                        </a:rPr>
                        <a:t>2024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Water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9054.26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2,995,780.50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1730.83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7528.0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19652.0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313847867"/>
                  </a:ext>
                </a:extLst>
              </a:tr>
              <a:tr h="229009">
                <a:tc>
                  <a:txBody>
                    <a:bodyPr/>
                    <a:lstStyle/>
                    <a:p>
                      <a:pPr marL="1270" algn="ctr">
                        <a:lnSpc>
                          <a:spcPct val="115000"/>
                        </a:lnSpc>
                        <a:spcBef>
                          <a:spcPts val="195"/>
                        </a:spcBef>
                        <a:spcAft>
                          <a:spcPts val="600"/>
                        </a:spcAft>
                      </a:pPr>
                      <a:r>
                        <a:rPr lang="en-IN" sz="1100">
                          <a:effectLst/>
                        </a:rPr>
                        <a:t>2024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Urban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12727.89</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9,821,717.19</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991.02</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10303.0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16527.0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782094701"/>
                  </a:ext>
                </a:extLst>
              </a:tr>
              <a:tr h="229009">
                <a:tc>
                  <a:txBody>
                    <a:bodyPr/>
                    <a:lstStyle/>
                    <a:p>
                      <a:pPr marL="1270" algn="ctr">
                        <a:lnSpc>
                          <a:spcPct val="115000"/>
                        </a:lnSpc>
                        <a:spcBef>
                          <a:spcPts val="195"/>
                        </a:spcBef>
                        <a:spcAft>
                          <a:spcPts val="600"/>
                        </a:spcAft>
                      </a:pPr>
                      <a:r>
                        <a:rPr lang="en-IN" sz="1100">
                          <a:effectLst/>
                        </a:rPr>
                        <a:t>2024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Full Raster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12659.65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dirty="0">
                          <a:effectLst/>
                        </a:rPr>
                        <a:t>7,784,814.50</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2790.13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7210.0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53764.0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2977888196"/>
                  </a:ext>
                </a:extLst>
              </a:tr>
              <a:tr h="229009">
                <a:tc>
                  <a:txBody>
                    <a:bodyPr/>
                    <a:lstStyle/>
                    <a:p>
                      <a:pPr marL="1270" algn="ctr">
                        <a:lnSpc>
                          <a:spcPct val="115000"/>
                        </a:lnSpc>
                        <a:spcBef>
                          <a:spcPts val="195"/>
                        </a:spcBef>
                        <a:spcAft>
                          <a:spcPts val="600"/>
                        </a:spcAft>
                      </a:pPr>
                      <a:r>
                        <a:rPr lang="en-IN" sz="1100">
                          <a:effectLst/>
                        </a:rPr>
                        <a:t>2020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Forest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11917.52</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9,213,558.00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3035.38</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8393.0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20719.0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1970460940"/>
                  </a:ext>
                </a:extLst>
              </a:tr>
              <a:tr h="425050">
                <a:tc>
                  <a:txBody>
                    <a:bodyPr/>
                    <a:lstStyle/>
                    <a:p>
                      <a:pPr marL="1270" algn="ctr">
                        <a:lnSpc>
                          <a:spcPct val="115000"/>
                        </a:lnSpc>
                        <a:spcBef>
                          <a:spcPts val="195"/>
                        </a:spcBef>
                        <a:spcAft>
                          <a:spcPts val="600"/>
                        </a:spcAft>
                      </a:pPr>
                      <a:r>
                        <a:rPr lang="en-IN" sz="1100">
                          <a:effectLst/>
                        </a:rPr>
                        <a:t>2020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dirty="0">
                          <a:effectLst/>
                        </a:rPr>
                        <a:t>Others</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14293.36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11,649,300.00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3411.11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8088.0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28096.0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3301823912"/>
                  </a:ext>
                </a:extLst>
              </a:tr>
              <a:tr h="229009">
                <a:tc>
                  <a:txBody>
                    <a:bodyPr/>
                    <a:lstStyle/>
                    <a:p>
                      <a:pPr marL="1270" algn="ctr">
                        <a:lnSpc>
                          <a:spcPct val="115000"/>
                        </a:lnSpc>
                        <a:spcBef>
                          <a:spcPts val="195"/>
                        </a:spcBef>
                        <a:spcAft>
                          <a:spcPts val="600"/>
                        </a:spcAft>
                      </a:pPr>
                      <a:r>
                        <a:rPr lang="en-IN" sz="1100">
                          <a:effectLst/>
                        </a:rPr>
                        <a:t>2020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Water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9530.12</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1,790,497.25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1338.09</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7640.0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19652.0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796425110"/>
                  </a:ext>
                </a:extLst>
              </a:tr>
              <a:tr h="229009">
                <a:tc>
                  <a:txBody>
                    <a:bodyPr/>
                    <a:lstStyle/>
                    <a:p>
                      <a:pPr marL="1270" algn="ctr">
                        <a:lnSpc>
                          <a:spcPct val="115000"/>
                        </a:lnSpc>
                        <a:spcBef>
                          <a:spcPts val="195"/>
                        </a:spcBef>
                        <a:spcAft>
                          <a:spcPts val="600"/>
                        </a:spcAft>
                      </a:pPr>
                      <a:r>
                        <a:rPr lang="en-IN" sz="1100">
                          <a:effectLst/>
                        </a:rPr>
                        <a:t>2020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Urban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13382.14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1,256,598.00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1120.98</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10405.0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18650.0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170630188"/>
                  </a:ext>
                </a:extLst>
              </a:tr>
              <a:tr h="229009">
                <a:tc>
                  <a:txBody>
                    <a:bodyPr/>
                    <a:lstStyle/>
                    <a:p>
                      <a:pPr marL="1270" algn="ctr">
                        <a:lnSpc>
                          <a:spcPct val="115000"/>
                        </a:lnSpc>
                        <a:spcBef>
                          <a:spcPts val="195"/>
                        </a:spcBef>
                        <a:spcAft>
                          <a:spcPts val="600"/>
                        </a:spcAft>
                      </a:pPr>
                      <a:r>
                        <a:rPr lang="en-IN" sz="1100">
                          <a:effectLst/>
                        </a:rPr>
                        <a:t>2020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Full Raster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13162.01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7,336,864.00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2708.66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4687.0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54244.0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4146970426"/>
                  </a:ext>
                </a:extLst>
              </a:tr>
              <a:tr h="229009">
                <a:tc>
                  <a:txBody>
                    <a:bodyPr/>
                    <a:lstStyle/>
                    <a:p>
                      <a:pPr marL="1270" algn="ctr">
                        <a:lnSpc>
                          <a:spcPct val="115000"/>
                        </a:lnSpc>
                        <a:spcBef>
                          <a:spcPts val="195"/>
                        </a:spcBef>
                        <a:spcAft>
                          <a:spcPts val="600"/>
                        </a:spcAft>
                      </a:pPr>
                      <a:r>
                        <a:rPr lang="en-IN" sz="1100">
                          <a:effectLst/>
                        </a:rPr>
                        <a:t>2016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Forest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13716.27</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3,406,568.50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1845.44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11290.0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19392.0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2367656566"/>
                  </a:ext>
                </a:extLst>
              </a:tr>
              <a:tr h="229009">
                <a:tc>
                  <a:txBody>
                    <a:bodyPr/>
                    <a:lstStyle/>
                    <a:p>
                      <a:pPr marL="1270" algn="ctr">
                        <a:lnSpc>
                          <a:spcPct val="115000"/>
                        </a:lnSpc>
                        <a:spcBef>
                          <a:spcPts val="195"/>
                        </a:spcBef>
                        <a:spcAft>
                          <a:spcPts val="600"/>
                        </a:spcAft>
                      </a:pPr>
                      <a:r>
                        <a:rPr lang="en-IN" sz="1100">
                          <a:effectLst/>
                        </a:rPr>
                        <a:t>2016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Others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15941.35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3,669,259.50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1915.53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11699.0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20159.0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3978464904"/>
                  </a:ext>
                </a:extLst>
              </a:tr>
              <a:tr h="229009">
                <a:tc>
                  <a:txBody>
                    <a:bodyPr/>
                    <a:lstStyle/>
                    <a:p>
                      <a:pPr marL="1270" algn="ctr">
                        <a:lnSpc>
                          <a:spcPct val="115000"/>
                        </a:lnSpc>
                        <a:spcBef>
                          <a:spcPts val="195"/>
                        </a:spcBef>
                        <a:spcAft>
                          <a:spcPts val="600"/>
                        </a:spcAft>
                      </a:pPr>
                      <a:r>
                        <a:rPr lang="en-IN" sz="1100">
                          <a:effectLst/>
                        </a:rPr>
                        <a:t>2016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Water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13679.50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1,221,847.75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1105.37</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11644.0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20204.0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3961908109"/>
                  </a:ext>
                </a:extLst>
              </a:tr>
              <a:tr h="229009">
                <a:tc>
                  <a:txBody>
                    <a:bodyPr/>
                    <a:lstStyle/>
                    <a:p>
                      <a:pPr marL="1270" algn="ctr">
                        <a:lnSpc>
                          <a:spcPct val="115000"/>
                        </a:lnSpc>
                        <a:spcBef>
                          <a:spcPts val="195"/>
                        </a:spcBef>
                        <a:spcAft>
                          <a:spcPts val="600"/>
                        </a:spcAft>
                      </a:pPr>
                      <a:r>
                        <a:rPr lang="en-IN" sz="1100">
                          <a:effectLst/>
                        </a:rPr>
                        <a:t>2016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Urban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14811.98</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1,029,516.19</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1014.65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12811.0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17092.0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3988744720"/>
                  </a:ext>
                </a:extLst>
              </a:tr>
              <a:tr h="229009">
                <a:tc>
                  <a:txBody>
                    <a:bodyPr/>
                    <a:lstStyle/>
                    <a:p>
                      <a:pPr marL="1270" algn="ctr">
                        <a:lnSpc>
                          <a:spcPct val="115000"/>
                        </a:lnSpc>
                        <a:spcBef>
                          <a:spcPts val="195"/>
                        </a:spcBef>
                        <a:spcAft>
                          <a:spcPts val="600"/>
                        </a:spcAft>
                      </a:pPr>
                      <a:r>
                        <a:rPr lang="en-IN" sz="1100">
                          <a:effectLst/>
                        </a:rPr>
                        <a:t>2016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Full Raster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15104.04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3,868,764.25</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1966.92</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10833.0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31579.0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3491318572"/>
                  </a:ext>
                </a:extLst>
              </a:tr>
              <a:tr h="229009">
                <a:tc>
                  <a:txBody>
                    <a:bodyPr/>
                    <a:lstStyle/>
                    <a:p>
                      <a:pPr marL="1270" algn="ctr">
                        <a:lnSpc>
                          <a:spcPct val="115000"/>
                        </a:lnSpc>
                        <a:spcBef>
                          <a:spcPts val="195"/>
                        </a:spcBef>
                        <a:spcAft>
                          <a:spcPts val="600"/>
                        </a:spcAft>
                      </a:pPr>
                      <a:r>
                        <a:rPr lang="en-IN" sz="1100">
                          <a:effectLst/>
                        </a:rPr>
                        <a:t>2014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Forest</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12486.01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6,455,698.50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2540.81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9243.0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20298.0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2446715855"/>
                  </a:ext>
                </a:extLst>
              </a:tr>
              <a:tr h="229009">
                <a:tc>
                  <a:txBody>
                    <a:bodyPr/>
                    <a:lstStyle/>
                    <a:p>
                      <a:pPr marL="1270" algn="ctr">
                        <a:lnSpc>
                          <a:spcPct val="115000"/>
                        </a:lnSpc>
                        <a:spcBef>
                          <a:spcPts val="195"/>
                        </a:spcBef>
                        <a:spcAft>
                          <a:spcPts val="600"/>
                        </a:spcAft>
                      </a:pPr>
                      <a:r>
                        <a:rPr lang="en-IN" sz="1100">
                          <a:effectLst/>
                        </a:rPr>
                        <a:t>2014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Others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14349.28</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8,162,493.50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2857.01</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9088.0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22726.0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541696646"/>
                  </a:ext>
                </a:extLst>
              </a:tr>
              <a:tr h="229009">
                <a:tc>
                  <a:txBody>
                    <a:bodyPr/>
                    <a:lstStyle/>
                    <a:p>
                      <a:pPr marL="1270" algn="ctr">
                        <a:lnSpc>
                          <a:spcPct val="115000"/>
                        </a:lnSpc>
                        <a:spcBef>
                          <a:spcPts val="195"/>
                        </a:spcBef>
                        <a:spcAft>
                          <a:spcPts val="600"/>
                        </a:spcAft>
                      </a:pPr>
                      <a:r>
                        <a:rPr lang="en-IN" sz="1100">
                          <a:effectLst/>
                        </a:rPr>
                        <a:t>2014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Water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10380.59</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1,836,932.63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1355.33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8865.0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18167.0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3392544343"/>
                  </a:ext>
                </a:extLst>
              </a:tr>
              <a:tr h="229009">
                <a:tc>
                  <a:txBody>
                    <a:bodyPr/>
                    <a:lstStyle/>
                    <a:p>
                      <a:pPr marL="1270" algn="ctr">
                        <a:lnSpc>
                          <a:spcPct val="115000"/>
                        </a:lnSpc>
                        <a:spcBef>
                          <a:spcPts val="195"/>
                        </a:spcBef>
                        <a:spcAft>
                          <a:spcPts val="600"/>
                        </a:spcAft>
                      </a:pPr>
                      <a:r>
                        <a:rPr lang="en-IN" sz="1100">
                          <a:effectLst/>
                        </a:rPr>
                        <a:t>2014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Urban</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14067.14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1,645,742.13</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1282.86</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11416.0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19504.0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2313816271"/>
                  </a:ext>
                </a:extLst>
              </a:tr>
              <a:tr h="229009">
                <a:tc>
                  <a:txBody>
                    <a:bodyPr/>
                    <a:lstStyle/>
                    <a:p>
                      <a:pPr marL="1270" algn="ctr">
                        <a:lnSpc>
                          <a:spcPct val="115000"/>
                        </a:lnSpc>
                        <a:spcBef>
                          <a:spcPts val="195"/>
                        </a:spcBef>
                        <a:spcAft>
                          <a:spcPts val="600"/>
                        </a:spcAft>
                      </a:pPr>
                      <a:r>
                        <a:rPr lang="en-IN" sz="1100">
                          <a:effectLst/>
                        </a:rPr>
                        <a:t>2014</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Full Raster</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14299.38</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6,293,070.50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2508.60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a:effectLst/>
                        </a:rPr>
                        <a:t>8180.0</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tc>
                  <a:txBody>
                    <a:bodyPr/>
                    <a:lstStyle/>
                    <a:p>
                      <a:pPr marL="1270" algn="ctr">
                        <a:lnSpc>
                          <a:spcPct val="115000"/>
                        </a:lnSpc>
                        <a:spcBef>
                          <a:spcPts val="195"/>
                        </a:spcBef>
                        <a:spcAft>
                          <a:spcPts val="600"/>
                        </a:spcAft>
                      </a:pPr>
                      <a:r>
                        <a:rPr lang="en-IN" sz="1100" dirty="0">
                          <a:effectLst/>
                        </a:rPr>
                        <a:t>56432.0</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3746" marR="3746" marT="3746" marB="3746" anchor="ctr"/>
                </a:tc>
                <a:extLst>
                  <a:ext uri="{0D108BD9-81ED-4DB2-BD59-A6C34878D82A}">
                    <a16:rowId xmlns:a16="http://schemas.microsoft.com/office/drawing/2014/main" val="4181865872"/>
                  </a:ext>
                </a:extLst>
              </a:tr>
            </a:tbl>
          </a:graphicData>
        </a:graphic>
      </p:graphicFrame>
    </p:spTree>
    <p:extLst>
      <p:ext uri="{BB962C8B-B14F-4D97-AF65-F5344CB8AC3E}">
        <p14:creationId xmlns:p14="http://schemas.microsoft.com/office/powerpoint/2010/main" val="4739782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0A017D-C465-3367-8E7D-9F2096B6B3D0}"/>
              </a:ext>
            </a:extLst>
          </p:cNvPr>
          <p:cNvSpPr txBox="1"/>
          <p:nvPr/>
        </p:nvSpPr>
        <p:spPr>
          <a:xfrm>
            <a:off x="747250" y="821594"/>
            <a:ext cx="10550013" cy="5055423"/>
          </a:xfrm>
          <a:prstGeom prst="rect">
            <a:avLst/>
          </a:prstGeom>
          <a:noFill/>
        </p:spPr>
        <p:txBody>
          <a:bodyPr wrap="square">
            <a:spAutoFit/>
          </a:bodyPr>
          <a:lstStyle/>
          <a:p>
            <a:pPr marL="1270" algn="ctr">
              <a:lnSpc>
                <a:spcPct val="115000"/>
              </a:lnSpc>
              <a:spcBef>
                <a:spcPts val="195"/>
              </a:spcBef>
              <a:spcAft>
                <a:spcPts val="600"/>
              </a:spcAft>
            </a:pPr>
            <a:r>
              <a:rPr lang="en-IN" sz="1400" b="1" dirty="0">
                <a:effectLst/>
                <a:latin typeface="Times New Roman" panose="02020603050405020304" pitchFamily="18" charset="0"/>
                <a:ea typeface="Times New Roman" panose="02020603050405020304" pitchFamily="18" charset="0"/>
              </a:rPr>
              <a:t> </a:t>
            </a:r>
            <a:r>
              <a:rPr lang="en-IN" sz="1600" b="1" u="sng" dirty="0">
                <a:effectLst/>
                <a:latin typeface="Times New Roman" panose="02020603050405020304" pitchFamily="18" charset="0"/>
                <a:ea typeface="Times New Roman" panose="02020603050405020304" pitchFamily="18" charset="0"/>
              </a:rPr>
              <a:t>Insights from the Results:</a:t>
            </a:r>
            <a:endParaRPr lang="en-IN" sz="1600" u="sng" dirty="0">
              <a:effectLst/>
              <a:latin typeface="Times New Roman" panose="02020603050405020304" pitchFamily="18" charset="0"/>
              <a:ea typeface="Times New Roman" panose="02020603050405020304" pitchFamily="18" charset="0"/>
            </a:endParaRPr>
          </a:p>
          <a:p>
            <a:pPr marL="342900" lvl="0" indent="-342900">
              <a:lnSpc>
                <a:spcPct val="115000"/>
              </a:lnSpc>
              <a:spcBef>
                <a:spcPts val="195"/>
              </a:spcBef>
              <a:spcAft>
                <a:spcPts val="600"/>
              </a:spcAft>
              <a:tabLst>
                <a:tab pos="457200" algn="l"/>
              </a:tabLst>
            </a:pPr>
            <a:r>
              <a:rPr lang="en-IN" sz="1400" b="1" dirty="0">
                <a:effectLst/>
                <a:latin typeface="Times New Roman" panose="02020603050405020304" pitchFamily="18" charset="0"/>
                <a:ea typeface="Times New Roman" panose="02020603050405020304" pitchFamily="18" charset="0"/>
              </a:rPr>
              <a:t>Mean Values:</a:t>
            </a:r>
            <a:endParaRPr lang="en-IN" sz="14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914400"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The "Others" raster consistently has the highest mean values, indicating it contains the highest pixel values on average across all years.</a:t>
            </a:r>
          </a:p>
          <a:p>
            <a:pPr marL="742950" lvl="1" indent="-285750" algn="just">
              <a:lnSpc>
                <a:spcPct val="115000"/>
              </a:lnSpc>
              <a:spcBef>
                <a:spcPts val="195"/>
              </a:spcBef>
              <a:spcAft>
                <a:spcPts val="600"/>
              </a:spcAft>
              <a:buSzPts val="1000"/>
              <a:buFont typeface="Courier New" panose="02070309020205020404" pitchFamily="49" charset="0"/>
              <a:buChar char="o"/>
              <a:tabLst>
                <a:tab pos="914400"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"Water" raster types generally exhibit the lowest mean values</a:t>
            </a:r>
            <a:r>
              <a:rPr lang="en-IN" sz="1400" b="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lvl="0" indent="-342900">
              <a:lnSpc>
                <a:spcPct val="115000"/>
              </a:lnSpc>
              <a:spcBef>
                <a:spcPts val="195"/>
              </a:spcBef>
              <a:spcAft>
                <a:spcPts val="600"/>
              </a:spcAft>
              <a:tabLst>
                <a:tab pos="457200" algn="l"/>
              </a:tabLst>
            </a:pPr>
            <a:r>
              <a:rPr lang="en-IN" sz="1400" b="1" dirty="0">
                <a:effectLst/>
                <a:latin typeface="Times New Roman" panose="02020603050405020304" pitchFamily="18" charset="0"/>
                <a:ea typeface="Times New Roman" panose="02020603050405020304" pitchFamily="18" charset="0"/>
              </a:rPr>
              <a:t>Variance and Standard Deviation:</a:t>
            </a:r>
            <a:endParaRPr lang="en-IN" sz="14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914400"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The "Others" raster has the highest variance, particularly in both 2020 and 2024, suggesting a wide range of values.</a:t>
            </a:r>
          </a:p>
          <a:p>
            <a:pPr marL="742950" lvl="1" indent="-285750" algn="just">
              <a:lnSpc>
                <a:spcPct val="115000"/>
              </a:lnSpc>
              <a:spcBef>
                <a:spcPts val="195"/>
              </a:spcBef>
              <a:spcAft>
                <a:spcPts val="600"/>
              </a:spcAft>
              <a:buSzPts val="1000"/>
              <a:buFont typeface="Courier New" panose="02070309020205020404" pitchFamily="49" charset="0"/>
              <a:buChar char="o"/>
              <a:tabLst>
                <a:tab pos="914400"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The "Urban" raster shows lower standard deviation in 2024, indicating less variability in its pixel values.</a:t>
            </a:r>
          </a:p>
          <a:p>
            <a:pPr marL="342900" lvl="0" indent="-342900">
              <a:lnSpc>
                <a:spcPct val="115000"/>
              </a:lnSpc>
              <a:spcBef>
                <a:spcPts val="195"/>
              </a:spcBef>
              <a:spcAft>
                <a:spcPts val="600"/>
              </a:spcAft>
              <a:tabLst>
                <a:tab pos="457200" algn="l"/>
              </a:tabLst>
            </a:pPr>
            <a:r>
              <a:rPr lang="en-IN" sz="1400" b="1" dirty="0">
                <a:effectLst/>
                <a:latin typeface="Times New Roman" panose="02020603050405020304" pitchFamily="18" charset="0"/>
                <a:ea typeface="Times New Roman" panose="02020603050405020304" pitchFamily="18" charset="0"/>
              </a:rPr>
              <a:t>Minimum and Maximum Values:</a:t>
            </a:r>
            <a:endParaRPr lang="en-IN" sz="14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914400"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The maximum values of the "Full Raster" type in 2020 and 2014 are significantly higher than those in other categories, suggesting the presence of extreme values.</a:t>
            </a:r>
          </a:p>
          <a:p>
            <a:pPr marL="742950" lvl="1" indent="-285750" algn="just">
              <a:lnSpc>
                <a:spcPct val="115000"/>
              </a:lnSpc>
              <a:spcBef>
                <a:spcPts val="195"/>
              </a:spcBef>
              <a:spcAft>
                <a:spcPts val="600"/>
              </a:spcAft>
              <a:buSzPts val="1000"/>
              <a:buFont typeface="Courier New" panose="02070309020205020404" pitchFamily="49" charset="0"/>
              <a:buChar char="o"/>
              <a:tabLst>
                <a:tab pos="914400"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Minimum values across raster types are relatively consistent, indicating a stable baseline.</a:t>
            </a:r>
          </a:p>
          <a:p>
            <a:pPr marL="342900" lvl="0" indent="-342900">
              <a:lnSpc>
                <a:spcPct val="115000"/>
              </a:lnSpc>
              <a:spcBef>
                <a:spcPts val="195"/>
              </a:spcBef>
              <a:spcAft>
                <a:spcPts val="600"/>
              </a:spcAft>
              <a:tabLst>
                <a:tab pos="457200" algn="l"/>
              </a:tabLst>
            </a:pPr>
            <a:r>
              <a:rPr lang="en-IN" sz="1400" b="1" dirty="0">
                <a:effectLst/>
                <a:latin typeface="Times New Roman" panose="02020603050405020304" pitchFamily="18" charset="0"/>
                <a:ea typeface="Times New Roman" panose="02020603050405020304" pitchFamily="18" charset="0"/>
              </a:rPr>
              <a:t>Trends Over Time:</a:t>
            </a:r>
            <a:endParaRPr lang="en-IN" sz="1400" dirty="0">
              <a:effectLst/>
              <a:latin typeface="Times New Roman" panose="02020603050405020304" pitchFamily="18" charset="0"/>
              <a:ea typeface="Times New Roman" panose="02020603050405020304" pitchFamily="18" charset="0"/>
            </a:endParaRPr>
          </a:p>
          <a:p>
            <a:pPr marL="742950" lvl="1" indent="-285750" algn="just">
              <a:lnSpc>
                <a:spcPct val="115000"/>
              </a:lnSpc>
              <a:spcBef>
                <a:spcPts val="195"/>
              </a:spcBef>
              <a:spcAft>
                <a:spcPts val="600"/>
              </a:spcAft>
              <a:buSzPts val="1000"/>
              <a:buFont typeface="Courier New" panose="02070309020205020404" pitchFamily="49" charset="0"/>
              <a:buChar char="o"/>
              <a:tabLst>
                <a:tab pos="914400"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There is a decline in the mean for "Forest" raster from 2020 to 2024, while "Others" has increased during the same period, indicating changes in land cover.</a:t>
            </a:r>
          </a:p>
          <a:p>
            <a:pPr marL="742950" lvl="1" indent="-285750" algn="just">
              <a:lnSpc>
                <a:spcPct val="115000"/>
              </a:lnSpc>
              <a:spcBef>
                <a:spcPts val="195"/>
              </a:spcBef>
              <a:spcAft>
                <a:spcPts val="600"/>
              </a:spcAft>
              <a:buSzPts val="1000"/>
              <a:buFont typeface="Courier New" panose="02070309020205020404" pitchFamily="49" charset="0"/>
              <a:buChar char="o"/>
              <a:tabLst>
                <a:tab pos="914400" algn="l"/>
              </a:tabLst>
            </a:pPr>
            <a:r>
              <a:rPr lang="en-IN" sz="1400" dirty="0">
                <a:effectLst/>
                <a:latin typeface="Times New Roman" panose="02020603050405020304" pitchFamily="18" charset="0"/>
                <a:ea typeface="Times New Roman" panose="02020603050405020304" pitchFamily="18" charset="0"/>
                <a:cs typeface="Times New Roman" panose="02020603050405020304" pitchFamily="18" charset="0"/>
              </a:rPr>
              <a:t>A decrease in mean water values from 2020 to 2024 may suggest shifts in water levels or land impacts</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057859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BFFEE-FE6F-2AC2-3EB5-CBC6A9EB9C26}"/>
              </a:ext>
            </a:extLst>
          </p:cNvPr>
          <p:cNvSpPr>
            <a:spLocks noGrp="1"/>
          </p:cNvSpPr>
          <p:nvPr>
            <p:ph type="title"/>
          </p:nvPr>
        </p:nvSpPr>
        <p:spPr/>
        <p:txBody>
          <a:bodyPr/>
          <a:lstStyle/>
          <a:p>
            <a:r>
              <a:rPr lang="en-US" dirty="0"/>
              <a:t>Conclusion</a:t>
            </a:r>
            <a:endParaRPr lang="en-IN" dirty="0"/>
          </a:p>
        </p:txBody>
      </p:sp>
      <p:sp>
        <p:nvSpPr>
          <p:cNvPr id="4" name="TextBox 3">
            <a:extLst>
              <a:ext uri="{FF2B5EF4-FFF2-40B4-BE49-F238E27FC236}">
                <a16:creationId xmlns:a16="http://schemas.microsoft.com/office/drawing/2014/main" id="{0F34F486-2120-C245-B0FB-1CE48FDEE26C}"/>
              </a:ext>
            </a:extLst>
          </p:cNvPr>
          <p:cNvSpPr txBox="1"/>
          <p:nvPr/>
        </p:nvSpPr>
        <p:spPr>
          <a:xfrm>
            <a:off x="1130710" y="2880962"/>
            <a:ext cx="10028903" cy="2585323"/>
          </a:xfrm>
          <a:prstGeom prst="rect">
            <a:avLst/>
          </a:prstGeom>
          <a:noFill/>
        </p:spPr>
        <p:txBody>
          <a:bodyPr wrap="square">
            <a:spAutoFit/>
          </a:bodyPr>
          <a:lstStyle/>
          <a:p>
            <a:pPr>
              <a:buFont typeface="Arial" panose="020B0604020202020204" pitchFamily="34" charset="0"/>
              <a:buChar char="•"/>
            </a:pPr>
            <a:r>
              <a:rPr lang="en-US" b="1" dirty="0"/>
              <a:t>Random Forest is the best choice</a:t>
            </a:r>
            <a:r>
              <a:rPr lang="en-US" dirty="0"/>
              <a:t> because it effectively handles </a:t>
            </a:r>
            <a:r>
              <a:rPr lang="en-US" b="1" dirty="0"/>
              <a:t>high-dimensional, multi-class spatial data</a:t>
            </a:r>
            <a:r>
              <a:rPr lang="en-US" dirty="0"/>
              <a:t> while being </a:t>
            </a:r>
            <a:r>
              <a:rPr lang="en-US" b="1" dirty="0"/>
              <a:t>robust to noise and overfitting</a:t>
            </a:r>
            <a:r>
              <a:rPr lang="en-US" dirty="0"/>
              <a:t>.</a:t>
            </a:r>
          </a:p>
          <a:p>
            <a:pPr>
              <a:buFont typeface="Arial" panose="020B0604020202020204" pitchFamily="34" charset="0"/>
              <a:buChar char="•"/>
            </a:pPr>
            <a:r>
              <a:rPr lang="en-US" b="1" dirty="0"/>
              <a:t>K-Means</a:t>
            </a:r>
            <a:r>
              <a:rPr lang="en-US" dirty="0"/>
              <a:t> is useful for unsupervised clustering but </a:t>
            </a:r>
            <a:r>
              <a:rPr lang="en-US" b="1" dirty="0"/>
              <a:t>not suitable for classification tasks</a:t>
            </a:r>
            <a:r>
              <a:rPr lang="en-US" dirty="0"/>
              <a:t>.</a:t>
            </a:r>
          </a:p>
          <a:p>
            <a:pPr>
              <a:buFont typeface="Arial" panose="020B0604020202020204" pitchFamily="34" charset="0"/>
              <a:buChar char="•"/>
            </a:pPr>
            <a:r>
              <a:rPr lang="en-US" b="1" dirty="0"/>
              <a:t>ANN</a:t>
            </a:r>
            <a:r>
              <a:rPr lang="en-US" dirty="0"/>
              <a:t> is powerful but requires </a:t>
            </a:r>
            <a:r>
              <a:rPr lang="en-US" b="1" dirty="0"/>
              <a:t>large labeled datasets and high computational power</a:t>
            </a:r>
            <a:r>
              <a:rPr lang="en-US" dirty="0"/>
              <a:t>.</a:t>
            </a:r>
          </a:p>
          <a:p>
            <a:pPr>
              <a:buFont typeface="Arial" panose="020B0604020202020204" pitchFamily="34" charset="0"/>
              <a:buChar char="•"/>
            </a:pPr>
            <a:r>
              <a:rPr lang="en-US" b="1" dirty="0"/>
              <a:t>Logistic Regression</a:t>
            </a:r>
            <a:r>
              <a:rPr lang="en-US" dirty="0"/>
              <a:t> is too simple for </a:t>
            </a:r>
            <a:r>
              <a:rPr lang="en-US" b="1" dirty="0"/>
              <a:t>complex spatial image classification</a:t>
            </a:r>
            <a:r>
              <a:rPr lang="en-US" dirty="0"/>
              <a:t> tasks.</a:t>
            </a:r>
          </a:p>
          <a:p>
            <a:r>
              <a:rPr lang="en-US" dirty="0"/>
              <a:t>Thus, </a:t>
            </a:r>
            <a:r>
              <a:rPr lang="en-US" b="1" dirty="0"/>
              <a:t>Random Forest provides a balance between accuracy, interpretability, and efficiency</a:t>
            </a:r>
            <a:r>
              <a:rPr lang="en-US" dirty="0"/>
              <a:t> for </a:t>
            </a:r>
            <a:r>
              <a:rPr lang="en-US" b="1" dirty="0"/>
              <a:t>spatial image classification</a:t>
            </a:r>
            <a:r>
              <a:rPr lang="en-US" dirty="0"/>
              <a:t> tasks like </a:t>
            </a:r>
            <a:r>
              <a:rPr lang="en-US" b="1" dirty="0"/>
              <a:t>land use mapping, remote sensing, and environmental monitoring</a:t>
            </a:r>
            <a:r>
              <a:rPr lang="en-US" dirty="0"/>
              <a:t>. </a:t>
            </a:r>
          </a:p>
          <a:p>
            <a:endParaRPr lang="en-IN" dirty="0"/>
          </a:p>
          <a:p>
            <a:endParaRPr lang="en-IN" dirty="0"/>
          </a:p>
        </p:txBody>
      </p:sp>
    </p:spTree>
    <p:extLst>
      <p:ext uri="{BB962C8B-B14F-4D97-AF65-F5344CB8AC3E}">
        <p14:creationId xmlns:p14="http://schemas.microsoft.com/office/powerpoint/2010/main" val="3923093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omputer screen shot of a hand writing on a piece of paper&#10;&#10;AI-generated content may be incorrect.">
            <a:extLst>
              <a:ext uri="{FF2B5EF4-FFF2-40B4-BE49-F238E27FC236}">
                <a16:creationId xmlns:a16="http://schemas.microsoft.com/office/drawing/2014/main" id="{8353F049-F8FA-F275-6A98-25FCCBFACBA8}"/>
              </a:ext>
            </a:extLst>
          </p:cNvPr>
          <p:cNvPicPr>
            <a:picLocks noChangeAspect="1"/>
          </p:cNvPicPr>
          <p:nvPr/>
        </p:nvPicPr>
        <p:blipFill>
          <a:blip r:embed="rId3"/>
          <a:srcRect l="64203" t="16264" r="10247" b="16044"/>
          <a:stretch/>
        </p:blipFill>
        <p:spPr>
          <a:xfrm>
            <a:off x="-88490" y="0"/>
            <a:ext cx="12280490" cy="6858000"/>
          </a:xfrm>
          <a:prstGeom prst="rect">
            <a:avLst/>
          </a:prstGeom>
        </p:spPr>
      </p:pic>
    </p:spTree>
    <p:extLst>
      <p:ext uri="{BB962C8B-B14F-4D97-AF65-F5344CB8AC3E}">
        <p14:creationId xmlns:p14="http://schemas.microsoft.com/office/powerpoint/2010/main" val="19949499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Organic</Template>
  <TotalTime>744</TotalTime>
  <Words>1788</Words>
  <Application>Microsoft Office PowerPoint</Application>
  <PresentationFormat>Widescreen</PresentationFormat>
  <Paragraphs>388</Paragraphs>
  <Slides>22</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Algerian</vt:lpstr>
      <vt:lpstr>Amasis MT Pro Black</vt:lpstr>
      <vt:lpstr>Aptos</vt:lpstr>
      <vt:lpstr>Arial</vt:lpstr>
      <vt:lpstr>Courier New</vt:lpstr>
      <vt:lpstr>Garamond</vt:lpstr>
      <vt:lpstr>Times New Roman</vt:lpstr>
      <vt:lpstr>Organic</vt:lpstr>
      <vt:lpstr>Unravelling Patterns: A Review of Machine Learning Algorithms - Comparisons and Insights for Enhanced Geospatial Insights</vt:lpstr>
      <vt:lpstr> </vt:lpstr>
      <vt:lpstr> Types of Algorithms</vt:lpstr>
      <vt:lpstr>Earth Explore  </vt:lpstr>
      <vt:lpstr>Google Earth Pro</vt:lpstr>
      <vt:lpstr>QGIS  (Quantum Geographic Information System) </vt:lpstr>
      <vt:lpstr> Research Methodology </vt:lpstr>
      <vt:lpstr>Random Forest</vt:lpstr>
      <vt:lpstr>PowerPoint Presentation</vt:lpstr>
      <vt:lpstr>ANN Neural Network</vt:lpstr>
      <vt:lpstr>PowerPoint Presentation</vt:lpstr>
      <vt:lpstr>Logistical Regression</vt:lpstr>
      <vt:lpstr>PowerPoint Presentation</vt:lpstr>
      <vt:lpstr>K-Means </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Manojkumar H G</dc:creator>
  <cp:lastModifiedBy>chaitra latha</cp:lastModifiedBy>
  <cp:revision>26</cp:revision>
  <dcterms:created xsi:type="dcterms:W3CDTF">2025-02-08T06:06:11Z</dcterms:created>
  <dcterms:modified xsi:type="dcterms:W3CDTF">2026-02-06T07:56:14Z</dcterms:modified>
</cp:coreProperties>
</file>